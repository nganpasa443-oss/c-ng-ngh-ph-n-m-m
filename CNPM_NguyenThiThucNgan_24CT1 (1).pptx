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7FA"/>
        </a:solidFill>
      </p:bgPr>
    </p:bg>
    <p:spTree>
      <p:nvGrpSpPr>
        <p:cNvPr id="1" name=""/>
        <p:cNvGrpSpPr/>
        <p:nvPr/>
      </p:nvGrpSpPr>
      <p:grpSpPr>
        <a:xfrm>
          <a:off x="0" y="0"/>
          <a:ext cx="0" cy="0"/>
          <a:chOff x="0" y="0"/>
          <a:chExt cx="0" cy="0"/>
        </a:xfrm>
      </p:grpSpPr>
      <p:sp>
        <p:nvSpPr>
          <p:cNvPr id="2" name="Shape 0"/>
          <p:cNvSpPr/>
          <p:nvPr/>
        </p:nvSpPr>
        <p:spPr>
          <a:xfrm>
            <a:off x="10607040" y="-1463040"/>
            <a:ext cx="3840480" cy="3840480"/>
          </a:xfrm>
          <a:prstGeom prst="ellipse">
            <a:avLst/>
          </a:prstGeom>
          <a:solidFill>
            <a:srgbClr val="F5A9C6">
              <a:alpha val="22000"/>
            </a:srgbClr>
          </a:solidFill>
          <a:ln/>
        </p:spPr>
      </p:sp>
      <p:sp>
        <p:nvSpPr>
          <p:cNvPr id="3" name="Shape 1"/>
          <p:cNvSpPr/>
          <p:nvPr/>
        </p:nvSpPr>
        <p:spPr>
          <a:xfrm>
            <a:off x="-1280160" y="5120640"/>
            <a:ext cx="3108960" cy="3108960"/>
          </a:xfrm>
          <a:prstGeom prst="ellipse">
            <a:avLst/>
          </a:prstGeom>
          <a:solidFill>
            <a:srgbClr val="F5A9C6">
              <a:alpha val="18000"/>
            </a:srgbClr>
          </a:solidFill>
          <a:ln/>
        </p:spPr>
      </p:sp>
      <p:sp>
        <p:nvSpPr>
          <p:cNvPr id="4" name="Text 2"/>
          <p:cNvSpPr/>
          <p:nvPr/>
        </p:nvSpPr>
        <p:spPr>
          <a:xfrm>
            <a:off x="640080" y="914400"/>
            <a:ext cx="5120640" cy="365760"/>
          </a:xfrm>
          <a:prstGeom prst="rect">
            <a:avLst/>
          </a:prstGeom>
          <a:noFill/>
          <a:ln/>
        </p:spPr>
        <p:txBody>
          <a:bodyPr wrap="square" lIns="0" tIns="0" rIns="0" bIns="0" rtlCol="0" anchor="ctr"/>
          <a:lstStyle/>
          <a:p>
            <a:pPr indent="0" marL="0">
              <a:buNone/>
            </a:pPr>
            <a:r>
              <a:rPr lang="en-US" sz="1300" b="1" spc="300" kern="0" dirty="0">
                <a:solidFill>
                  <a:srgbClr val="F5A9C6"/>
                </a:solidFill>
                <a:latin typeface="Calibri" pitchFamily="34" charset="0"/>
                <a:ea typeface="Calibri" pitchFamily="34" charset="-122"/>
                <a:cs typeface="Calibri" pitchFamily="34" charset="-120"/>
              </a:rPr>
              <a:t>BÁO CÁO CÁ NHÂN</a:t>
            </a:r>
            <a:endParaRPr lang="en-US" sz="1300" dirty="0"/>
          </a:p>
        </p:txBody>
      </p:sp>
      <p:sp>
        <p:nvSpPr>
          <p:cNvPr id="5" name="Text 3"/>
          <p:cNvSpPr/>
          <p:nvPr/>
        </p:nvSpPr>
        <p:spPr>
          <a:xfrm>
            <a:off x="594360" y="1325880"/>
            <a:ext cx="5303520" cy="2011680"/>
          </a:xfrm>
          <a:prstGeom prst="rect">
            <a:avLst/>
          </a:prstGeom>
          <a:noFill/>
          <a:ln/>
        </p:spPr>
        <p:txBody>
          <a:bodyPr wrap="square" lIns="0" tIns="0" rIns="0" bIns="0" rtlCol="0" anchor="ctr"/>
          <a:lstStyle/>
          <a:p>
            <a:pPr indent="0" marL="0">
              <a:lnSpc>
                <a:spcPct val="105000"/>
              </a:lnSpc>
              <a:buNone/>
            </a:pPr>
            <a:r>
              <a:rPr lang="en-US" sz="4400" b="1" dirty="0">
                <a:solidFill>
                  <a:srgbClr val="8C3F63"/>
                </a:solidFill>
                <a:latin typeface="Cambria" pitchFamily="34" charset="0"/>
                <a:ea typeface="Cambria" pitchFamily="34" charset="-122"/>
                <a:cs typeface="Cambria" pitchFamily="34" charset="-120"/>
              </a:rPr>
              <a:t>CÔNG NGHỆ</a:t>
            </a:r>
            <a:endParaRPr lang="en-US" sz="4400" dirty="0"/>
          </a:p>
          <a:p>
            <a:pPr indent="0" marL="0">
              <a:lnSpc>
                <a:spcPct val="105000"/>
              </a:lnSpc>
              <a:buNone/>
            </a:pPr>
            <a:r>
              <a:rPr lang="en-US" sz="4400" b="1" dirty="0">
                <a:solidFill>
                  <a:srgbClr val="8C3F63"/>
                </a:solidFill>
                <a:latin typeface="Cambria" pitchFamily="34" charset="0"/>
                <a:ea typeface="Cambria" pitchFamily="34" charset="-122"/>
                <a:cs typeface="Cambria" pitchFamily="34" charset="-120"/>
              </a:rPr>
              <a:t>PHẦN MỀM</a:t>
            </a:r>
            <a:endParaRPr lang="en-US" sz="4400" dirty="0"/>
          </a:p>
        </p:txBody>
      </p:sp>
      <p:sp>
        <p:nvSpPr>
          <p:cNvPr id="6" name="Shape 4"/>
          <p:cNvSpPr/>
          <p:nvPr/>
        </p:nvSpPr>
        <p:spPr>
          <a:xfrm>
            <a:off x="640080" y="3429000"/>
            <a:ext cx="2286000" cy="502920"/>
          </a:xfrm>
          <a:prstGeom prst="roundRect">
            <a:avLst>
              <a:gd name="adj" fmla="val 50909"/>
            </a:avLst>
          </a:prstGeom>
          <a:solidFill>
            <a:srgbClr val="F5A9C6"/>
          </a:solidFill>
          <a:ln/>
        </p:spPr>
      </p:sp>
      <p:sp>
        <p:nvSpPr>
          <p:cNvPr id="7" name="Text 5"/>
          <p:cNvSpPr/>
          <p:nvPr/>
        </p:nvSpPr>
        <p:spPr>
          <a:xfrm>
            <a:off x="640080" y="3429000"/>
            <a:ext cx="228600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LỚP 24CT1</a:t>
            </a:r>
            <a:endParaRPr lang="en-US" sz="1500" dirty="0"/>
          </a:p>
        </p:txBody>
      </p:sp>
      <p:sp>
        <p:nvSpPr>
          <p:cNvPr id="8" name="Text 6"/>
          <p:cNvSpPr/>
          <p:nvPr/>
        </p:nvSpPr>
        <p:spPr>
          <a:xfrm>
            <a:off x="640080" y="4206240"/>
            <a:ext cx="4937760" cy="914400"/>
          </a:xfrm>
          <a:prstGeom prst="rect">
            <a:avLst/>
          </a:prstGeom>
          <a:noFill/>
          <a:ln/>
        </p:spPr>
        <p:txBody>
          <a:bodyPr wrap="square" lIns="0" tIns="0" rIns="0" bIns="0" rtlCol="0" anchor="ctr"/>
          <a:lstStyle/>
          <a:p>
            <a:pPr indent="0" marL="0">
              <a:lnSpc>
                <a:spcPct val="130000"/>
              </a:lnSpc>
              <a:buNone/>
            </a:pPr>
            <a:r>
              <a:rPr lang="en-US" sz="1350" i="1" dirty="0">
                <a:solidFill>
                  <a:srgbClr val="5A3A47"/>
                </a:solidFill>
                <a:latin typeface="Calibri" pitchFamily="34" charset="0"/>
                <a:ea typeface="Calibri" pitchFamily="34" charset="-122"/>
                <a:cs typeface="Calibri" pitchFamily="34" charset="-120"/>
              </a:rPr>
              <a:t>Đồ án cá nhân giới thiệu định hướng nghề nghiệp và công nghệ theo học.</a:t>
            </a:r>
            <a:endParaRPr lang="en-US" sz="1350" dirty="0"/>
          </a:p>
        </p:txBody>
      </p:sp>
      <p:sp>
        <p:nvSpPr>
          <p:cNvPr id="9" name="Shape 7"/>
          <p:cNvSpPr/>
          <p:nvPr/>
        </p:nvSpPr>
        <p:spPr>
          <a:xfrm>
            <a:off x="6126480" y="777240"/>
            <a:ext cx="5486400" cy="5303520"/>
          </a:xfrm>
          <a:prstGeom prst="roundRect">
            <a:avLst>
              <a:gd name="adj" fmla="val 3103"/>
            </a:avLst>
          </a:prstGeom>
          <a:solidFill>
            <a:srgbClr val="FFFFFF"/>
          </a:solidFill>
          <a:ln/>
          <a:effectLst>
            <a:outerShdw sx="100000" sy="100000" kx="0" ky="0" algn="bl" rotWithShape="0" blurRad="152400" dist="50800" dir="5400000">
              <a:srgbClr val="D88AA8">
                <a:alpha val="35000"/>
              </a:srgbClr>
            </a:outerShdw>
          </a:effectLst>
        </p:spPr>
      </p:sp>
      <p:sp>
        <p:nvSpPr>
          <p:cNvPr id="10" name="Shape 8"/>
          <p:cNvSpPr/>
          <p:nvPr/>
        </p:nvSpPr>
        <p:spPr>
          <a:xfrm>
            <a:off x="6492240" y="1243584"/>
            <a:ext cx="384048" cy="384048"/>
          </a:xfrm>
          <a:prstGeom prst="ellipse">
            <a:avLst/>
          </a:prstGeom>
          <a:solidFill>
            <a:srgbClr val="FCE3ED"/>
          </a:solidFill>
          <a:ln/>
        </p:spPr>
      </p:sp>
      <p:sp>
        <p:nvSpPr>
          <p:cNvPr id="11" name="Text 9"/>
          <p:cNvSpPr/>
          <p:nvPr/>
        </p:nvSpPr>
        <p:spPr>
          <a:xfrm>
            <a:off x="6492240" y="1243584"/>
            <a:ext cx="384048" cy="384048"/>
          </a:xfrm>
          <a:prstGeom prst="rect">
            <a:avLst/>
          </a:prstGeom>
          <a:noFill/>
          <a:ln/>
        </p:spPr>
        <p:txBody>
          <a:bodyPr wrap="square" lIns="0" tIns="0" rIns="0" bIns="0" rtlCol="0" anchor="ctr"/>
          <a:lstStyle/>
          <a:p>
            <a:pPr algn="ctr" indent="0" marL="0">
              <a:buNone/>
            </a:pPr>
            <a:r>
              <a:rPr lang="en-US" sz="924" b="1" dirty="0">
                <a:solidFill>
                  <a:srgbClr val="8C3F63"/>
                </a:solidFill>
                <a:latin typeface="Calibri" pitchFamily="34" charset="0"/>
                <a:ea typeface="Calibri" pitchFamily="34" charset="-122"/>
                <a:cs typeface="Calibri" pitchFamily="34" charset="-120"/>
              </a:rPr>
              <a:t>1</a:t>
            </a:r>
            <a:endParaRPr lang="en-US" sz="924" dirty="0"/>
          </a:p>
        </p:txBody>
      </p:sp>
      <p:sp>
        <p:nvSpPr>
          <p:cNvPr id="12" name="Text 10"/>
          <p:cNvSpPr/>
          <p:nvPr/>
        </p:nvSpPr>
        <p:spPr>
          <a:xfrm>
            <a:off x="7086600" y="1161288"/>
            <a:ext cx="4114800" cy="274320"/>
          </a:xfrm>
          <a:prstGeom prst="rect">
            <a:avLst/>
          </a:prstGeom>
          <a:noFill/>
          <a:ln/>
        </p:spPr>
        <p:txBody>
          <a:bodyPr wrap="square" lIns="0" tIns="0" rIns="0" bIns="0" rtlCol="0" anchor="ctr"/>
          <a:lstStyle/>
          <a:p>
            <a:pPr indent="0" marL="0">
              <a:buNone/>
            </a:pPr>
            <a:r>
              <a:rPr lang="en-US" sz="1050" b="1" spc="100" kern="0" dirty="0">
                <a:solidFill>
                  <a:srgbClr val="F5A9C6"/>
                </a:solidFill>
                <a:latin typeface="Calibri" pitchFamily="34" charset="0"/>
                <a:ea typeface="Calibri" pitchFamily="34" charset="-122"/>
                <a:cs typeface="Calibri" pitchFamily="34" charset="-120"/>
              </a:rPr>
              <a:t>MÔN HỌC</a:t>
            </a:r>
            <a:endParaRPr lang="en-US" sz="1050" dirty="0"/>
          </a:p>
        </p:txBody>
      </p:sp>
      <p:sp>
        <p:nvSpPr>
          <p:cNvPr id="13" name="Text 11"/>
          <p:cNvSpPr/>
          <p:nvPr/>
        </p:nvSpPr>
        <p:spPr>
          <a:xfrm>
            <a:off x="7086600" y="1389888"/>
            <a:ext cx="4114800" cy="365760"/>
          </a:xfrm>
          <a:prstGeom prst="rect">
            <a:avLst/>
          </a:prstGeom>
          <a:noFill/>
          <a:ln/>
        </p:spPr>
        <p:txBody>
          <a:bodyPr wrap="square" lIns="0" tIns="0" rIns="0" bIns="0" rtlCol="0" anchor="ctr"/>
          <a:lstStyle/>
          <a:p>
            <a:pPr indent="0" marL="0">
              <a:buNone/>
            </a:pPr>
            <a:r>
              <a:rPr lang="en-US" sz="1500" b="1" dirty="0">
                <a:solidFill>
                  <a:srgbClr val="5A3A47"/>
                </a:solidFill>
                <a:latin typeface="Calibri" pitchFamily="34" charset="0"/>
                <a:ea typeface="Calibri" pitchFamily="34" charset="-122"/>
                <a:cs typeface="Calibri" pitchFamily="34" charset="-120"/>
              </a:rPr>
              <a:t>Công nghệ phần mềm</a:t>
            </a:r>
            <a:endParaRPr lang="en-US" sz="1500" dirty="0"/>
          </a:p>
        </p:txBody>
      </p:sp>
      <p:sp>
        <p:nvSpPr>
          <p:cNvPr id="14" name="Shape 12"/>
          <p:cNvSpPr/>
          <p:nvPr/>
        </p:nvSpPr>
        <p:spPr>
          <a:xfrm>
            <a:off x="6492240" y="1847088"/>
            <a:ext cx="4754880" cy="0"/>
          </a:xfrm>
          <a:prstGeom prst="line">
            <a:avLst/>
          </a:prstGeom>
          <a:noFill/>
          <a:ln w="12700">
            <a:solidFill>
              <a:srgbClr val="FCE3ED"/>
            </a:solidFill>
            <a:prstDash val="solid"/>
          </a:ln>
        </p:spPr>
      </p:sp>
      <p:sp>
        <p:nvSpPr>
          <p:cNvPr id="15" name="Shape 13"/>
          <p:cNvSpPr/>
          <p:nvPr/>
        </p:nvSpPr>
        <p:spPr>
          <a:xfrm>
            <a:off x="6492240" y="1993392"/>
            <a:ext cx="384048" cy="384048"/>
          </a:xfrm>
          <a:prstGeom prst="ellipse">
            <a:avLst/>
          </a:prstGeom>
          <a:solidFill>
            <a:srgbClr val="FCE3ED"/>
          </a:solidFill>
          <a:ln/>
        </p:spPr>
      </p:sp>
      <p:sp>
        <p:nvSpPr>
          <p:cNvPr id="16" name="Text 14"/>
          <p:cNvSpPr/>
          <p:nvPr/>
        </p:nvSpPr>
        <p:spPr>
          <a:xfrm>
            <a:off x="6492240" y="1993392"/>
            <a:ext cx="384048" cy="384048"/>
          </a:xfrm>
          <a:prstGeom prst="rect">
            <a:avLst/>
          </a:prstGeom>
          <a:noFill/>
          <a:ln/>
        </p:spPr>
        <p:txBody>
          <a:bodyPr wrap="square" lIns="0" tIns="0" rIns="0" bIns="0" rtlCol="0" anchor="ctr"/>
          <a:lstStyle/>
          <a:p>
            <a:pPr algn="ctr" indent="0" marL="0">
              <a:buNone/>
            </a:pPr>
            <a:r>
              <a:rPr lang="en-US" sz="924" b="1" dirty="0">
                <a:solidFill>
                  <a:srgbClr val="8C3F63"/>
                </a:solidFill>
                <a:latin typeface="Calibri" pitchFamily="34" charset="0"/>
                <a:ea typeface="Calibri" pitchFamily="34" charset="-122"/>
                <a:cs typeface="Calibri" pitchFamily="34" charset="-120"/>
              </a:rPr>
              <a:t>2</a:t>
            </a:r>
            <a:endParaRPr lang="en-US" sz="924" dirty="0"/>
          </a:p>
        </p:txBody>
      </p:sp>
      <p:sp>
        <p:nvSpPr>
          <p:cNvPr id="17" name="Text 15"/>
          <p:cNvSpPr/>
          <p:nvPr/>
        </p:nvSpPr>
        <p:spPr>
          <a:xfrm>
            <a:off x="7086600" y="1911096"/>
            <a:ext cx="4114800" cy="274320"/>
          </a:xfrm>
          <a:prstGeom prst="rect">
            <a:avLst/>
          </a:prstGeom>
          <a:noFill/>
          <a:ln/>
        </p:spPr>
        <p:txBody>
          <a:bodyPr wrap="square" lIns="0" tIns="0" rIns="0" bIns="0" rtlCol="0" anchor="ctr"/>
          <a:lstStyle/>
          <a:p>
            <a:pPr indent="0" marL="0">
              <a:buNone/>
            </a:pPr>
            <a:r>
              <a:rPr lang="en-US" sz="1050" b="1" spc="100" kern="0" dirty="0">
                <a:solidFill>
                  <a:srgbClr val="F5A9C6"/>
                </a:solidFill>
                <a:latin typeface="Calibri" pitchFamily="34" charset="0"/>
                <a:ea typeface="Calibri" pitchFamily="34" charset="-122"/>
                <a:cs typeface="Calibri" pitchFamily="34" charset="-120"/>
              </a:rPr>
              <a:t>HỌ VÀ TÊN</a:t>
            </a:r>
            <a:endParaRPr lang="en-US" sz="1050" dirty="0"/>
          </a:p>
        </p:txBody>
      </p:sp>
      <p:sp>
        <p:nvSpPr>
          <p:cNvPr id="18" name="Text 16"/>
          <p:cNvSpPr/>
          <p:nvPr/>
        </p:nvSpPr>
        <p:spPr>
          <a:xfrm>
            <a:off x="7086600" y="2139696"/>
            <a:ext cx="4114800" cy="365760"/>
          </a:xfrm>
          <a:prstGeom prst="rect">
            <a:avLst/>
          </a:prstGeom>
          <a:noFill/>
          <a:ln/>
        </p:spPr>
        <p:txBody>
          <a:bodyPr wrap="square" lIns="0" tIns="0" rIns="0" bIns="0" rtlCol="0" anchor="ctr"/>
          <a:lstStyle/>
          <a:p>
            <a:pPr indent="0" marL="0">
              <a:buNone/>
            </a:pPr>
            <a:r>
              <a:rPr lang="en-US" sz="1500" b="1" dirty="0">
                <a:solidFill>
                  <a:srgbClr val="5A3A47"/>
                </a:solidFill>
                <a:latin typeface="Calibri" pitchFamily="34" charset="0"/>
                <a:ea typeface="Calibri" pitchFamily="34" charset="-122"/>
                <a:cs typeface="Calibri" pitchFamily="34" charset="-120"/>
              </a:rPr>
              <a:t>Nguyễn Thị Thục Ngân</a:t>
            </a:r>
            <a:endParaRPr lang="en-US" sz="1500" dirty="0"/>
          </a:p>
        </p:txBody>
      </p:sp>
      <p:sp>
        <p:nvSpPr>
          <p:cNvPr id="19" name="Shape 17"/>
          <p:cNvSpPr/>
          <p:nvPr/>
        </p:nvSpPr>
        <p:spPr>
          <a:xfrm>
            <a:off x="6492240" y="2596896"/>
            <a:ext cx="4754880" cy="0"/>
          </a:xfrm>
          <a:prstGeom prst="line">
            <a:avLst/>
          </a:prstGeom>
          <a:noFill/>
          <a:ln w="12700">
            <a:solidFill>
              <a:srgbClr val="FCE3ED"/>
            </a:solidFill>
            <a:prstDash val="solid"/>
          </a:ln>
        </p:spPr>
      </p:sp>
      <p:sp>
        <p:nvSpPr>
          <p:cNvPr id="20" name="Shape 18"/>
          <p:cNvSpPr/>
          <p:nvPr/>
        </p:nvSpPr>
        <p:spPr>
          <a:xfrm>
            <a:off x="6492240" y="2743200"/>
            <a:ext cx="384048" cy="384048"/>
          </a:xfrm>
          <a:prstGeom prst="ellipse">
            <a:avLst/>
          </a:prstGeom>
          <a:solidFill>
            <a:srgbClr val="FCE3ED"/>
          </a:solidFill>
          <a:ln/>
        </p:spPr>
      </p:sp>
      <p:sp>
        <p:nvSpPr>
          <p:cNvPr id="21" name="Text 19"/>
          <p:cNvSpPr/>
          <p:nvPr/>
        </p:nvSpPr>
        <p:spPr>
          <a:xfrm>
            <a:off x="6492240" y="2743200"/>
            <a:ext cx="384048" cy="384048"/>
          </a:xfrm>
          <a:prstGeom prst="rect">
            <a:avLst/>
          </a:prstGeom>
          <a:noFill/>
          <a:ln/>
        </p:spPr>
        <p:txBody>
          <a:bodyPr wrap="square" lIns="0" tIns="0" rIns="0" bIns="0" rtlCol="0" anchor="ctr"/>
          <a:lstStyle/>
          <a:p>
            <a:pPr algn="ctr" indent="0" marL="0">
              <a:buNone/>
            </a:pPr>
            <a:r>
              <a:rPr lang="en-US" sz="924" b="1" dirty="0">
                <a:solidFill>
                  <a:srgbClr val="8C3F63"/>
                </a:solidFill>
                <a:latin typeface="Calibri" pitchFamily="34" charset="0"/>
                <a:ea typeface="Calibri" pitchFamily="34" charset="-122"/>
                <a:cs typeface="Calibri" pitchFamily="34" charset="-120"/>
              </a:rPr>
              <a:t>3</a:t>
            </a:r>
            <a:endParaRPr lang="en-US" sz="924" dirty="0"/>
          </a:p>
        </p:txBody>
      </p:sp>
      <p:sp>
        <p:nvSpPr>
          <p:cNvPr id="22" name="Text 20"/>
          <p:cNvSpPr/>
          <p:nvPr/>
        </p:nvSpPr>
        <p:spPr>
          <a:xfrm>
            <a:off x="7086600" y="2660904"/>
            <a:ext cx="4114800" cy="274320"/>
          </a:xfrm>
          <a:prstGeom prst="rect">
            <a:avLst/>
          </a:prstGeom>
          <a:noFill/>
          <a:ln/>
        </p:spPr>
        <p:txBody>
          <a:bodyPr wrap="square" lIns="0" tIns="0" rIns="0" bIns="0" rtlCol="0" anchor="ctr"/>
          <a:lstStyle/>
          <a:p>
            <a:pPr indent="0" marL="0">
              <a:buNone/>
            </a:pPr>
            <a:r>
              <a:rPr lang="en-US" sz="1050" b="1" spc="100" kern="0" dirty="0">
                <a:solidFill>
                  <a:srgbClr val="F5A9C6"/>
                </a:solidFill>
                <a:latin typeface="Calibri" pitchFamily="34" charset="0"/>
                <a:ea typeface="Calibri" pitchFamily="34" charset="-122"/>
                <a:cs typeface="Calibri" pitchFamily="34" charset="-120"/>
              </a:rPr>
              <a:t>LỚP</a:t>
            </a:r>
            <a:endParaRPr lang="en-US" sz="1050" dirty="0"/>
          </a:p>
        </p:txBody>
      </p:sp>
      <p:sp>
        <p:nvSpPr>
          <p:cNvPr id="23" name="Text 21"/>
          <p:cNvSpPr/>
          <p:nvPr/>
        </p:nvSpPr>
        <p:spPr>
          <a:xfrm>
            <a:off x="7086600" y="2889504"/>
            <a:ext cx="4114800" cy="365760"/>
          </a:xfrm>
          <a:prstGeom prst="rect">
            <a:avLst/>
          </a:prstGeom>
          <a:noFill/>
          <a:ln/>
        </p:spPr>
        <p:txBody>
          <a:bodyPr wrap="square" lIns="0" tIns="0" rIns="0" bIns="0" rtlCol="0" anchor="ctr"/>
          <a:lstStyle/>
          <a:p>
            <a:pPr indent="0" marL="0">
              <a:buNone/>
            </a:pPr>
            <a:r>
              <a:rPr lang="en-US" sz="1500" b="1" dirty="0">
                <a:solidFill>
                  <a:srgbClr val="5A3A47"/>
                </a:solidFill>
                <a:latin typeface="Calibri" pitchFamily="34" charset="0"/>
                <a:ea typeface="Calibri" pitchFamily="34" charset="-122"/>
                <a:cs typeface="Calibri" pitchFamily="34" charset="-120"/>
              </a:rPr>
              <a:t>24CT1</a:t>
            </a:r>
            <a:endParaRPr lang="en-US" sz="1500" dirty="0"/>
          </a:p>
        </p:txBody>
      </p:sp>
      <p:sp>
        <p:nvSpPr>
          <p:cNvPr id="24" name="Shape 22"/>
          <p:cNvSpPr/>
          <p:nvPr/>
        </p:nvSpPr>
        <p:spPr>
          <a:xfrm>
            <a:off x="6492240" y="3346704"/>
            <a:ext cx="4754880" cy="0"/>
          </a:xfrm>
          <a:prstGeom prst="line">
            <a:avLst/>
          </a:prstGeom>
          <a:noFill/>
          <a:ln w="12700">
            <a:solidFill>
              <a:srgbClr val="FCE3ED"/>
            </a:solidFill>
            <a:prstDash val="solid"/>
          </a:ln>
        </p:spPr>
      </p:sp>
      <p:sp>
        <p:nvSpPr>
          <p:cNvPr id="25" name="Shape 23"/>
          <p:cNvSpPr/>
          <p:nvPr/>
        </p:nvSpPr>
        <p:spPr>
          <a:xfrm>
            <a:off x="6492240" y="3493008"/>
            <a:ext cx="384048" cy="384048"/>
          </a:xfrm>
          <a:prstGeom prst="ellipse">
            <a:avLst/>
          </a:prstGeom>
          <a:solidFill>
            <a:srgbClr val="FCE3ED"/>
          </a:solidFill>
          <a:ln/>
        </p:spPr>
      </p:sp>
      <p:sp>
        <p:nvSpPr>
          <p:cNvPr id="26" name="Text 24"/>
          <p:cNvSpPr/>
          <p:nvPr/>
        </p:nvSpPr>
        <p:spPr>
          <a:xfrm>
            <a:off x="6492240" y="3493008"/>
            <a:ext cx="384048" cy="384048"/>
          </a:xfrm>
          <a:prstGeom prst="rect">
            <a:avLst/>
          </a:prstGeom>
          <a:noFill/>
          <a:ln/>
        </p:spPr>
        <p:txBody>
          <a:bodyPr wrap="square" lIns="0" tIns="0" rIns="0" bIns="0" rtlCol="0" anchor="ctr"/>
          <a:lstStyle/>
          <a:p>
            <a:pPr algn="ctr" indent="0" marL="0">
              <a:buNone/>
            </a:pPr>
            <a:r>
              <a:rPr lang="en-US" sz="924" b="1" dirty="0">
                <a:solidFill>
                  <a:srgbClr val="8C3F63"/>
                </a:solidFill>
                <a:latin typeface="Calibri" pitchFamily="34" charset="0"/>
                <a:ea typeface="Calibri" pitchFamily="34" charset="-122"/>
                <a:cs typeface="Calibri" pitchFamily="34" charset="-120"/>
              </a:rPr>
              <a:t>4</a:t>
            </a:r>
            <a:endParaRPr lang="en-US" sz="924" dirty="0"/>
          </a:p>
        </p:txBody>
      </p:sp>
      <p:sp>
        <p:nvSpPr>
          <p:cNvPr id="27" name="Text 25"/>
          <p:cNvSpPr/>
          <p:nvPr/>
        </p:nvSpPr>
        <p:spPr>
          <a:xfrm>
            <a:off x="7086600" y="3410712"/>
            <a:ext cx="4114800" cy="274320"/>
          </a:xfrm>
          <a:prstGeom prst="rect">
            <a:avLst/>
          </a:prstGeom>
          <a:noFill/>
          <a:ln/>
        </p:spPr>
        <p:txBody>
          <a:bodyPr wrap="square" lIns="0" tIns="0" rIns="0" bIns="0" rtlCol="0" anchor="ctr"/>
          <a:lstStyle/>
          <a:p>
            <a:pPr indent="0" marL="0">
              <a:buNone/>
            </a:pPr>
            <a:r>
              <a:rPr lang="en-US" sz="1050" b="1" spc="100" kern="0" dirty="0">
                <a:solidFill>
                  <a:srgbClr val="F5A9C6"/>
                </a:solidFill>
                <a:latin typeface="Calibri" pitchFamily="34" charset="0"/>
                <a:ea typeface="Calibri" pitchFamily="34" charset="-122"/>
                <a:cs typeface="Calibri" pitchFamily="34" charset="-120"/>
              </a:rPr>
              <a:t>MSSV</a:t>
            </a:r>
            <a:endParaRPr lang="en-US" sz="1050" dirty="0"/>
          </a:p>
        </p:txBody>
      </p:sp>
      <p:sp>
        <p:nvSpPr>
          <p:cNvPr id="28" name="Text 26"/>
          <p:cNvSpPr/>
          <p:nvPr/>
        </p:nvSpPr>
        <p:spPr>
          <a:xfrm>
            <a:off x="7086600" y="3639312"/>
            <a:ext cx="4114800" cy="365760"/>
          </a:xfrm>
          <a:prstGeom prst="rect">
            <a:avLst/>
          </a:prstGeom>
          <a:noFill/>
          <a:ln/>
        </p:spPr>
        <p:txBody>
          <a:bodyPr wrap="square" lIns="0" tIns="0" rIns="0" bIns="0" rtlCol="0" anchor="ctr"/>
          <a:lstStyle/>
          <a:p>
            <a:pPr indent="0" marL="0">
              <a:buNone/>
            </a:pPr>
            <a:r>
              <a:rPr lang="en-US" sz="1500" b="1" dirty="0">
                <a:solidFill>
                  <a:srgbClr val="5A3A47"/>
                </a:solidFill>
                <a:latin typeface="Calibri" pitchFamily="34" charset="0"/>
                <a:ea typeface="Calibri" pitchFamily="34" charset="-122"/>
                <a:cs typeface="Calibri" pitchFamily="34" charset="-120"/>
              </a:rPr>
              <a:t>2351220131</a:t>
            </a:r>
            <a:endParaRPr lang="en-US" sz="1500" dirty="0"/>
          </a:p>
        </p:txBody>
      </p:sp>
      <p:sp>
        <p:nvSpPr>
          <p:cNvPr id="29" name="Shape 27"/>
          <p:cNvSpPr/>
          <p:nvPr/>
        </p:nvSpPr>
        <p:spPr>
          <a:xfrm>
            <a:off x="6492240" y="4096512"/>
            <a:ext cx="4754880" cy="0"/>
          </a:xfrm>
          <a:prstGeom prst="line">
            <a:avLst/>
          </a:prstGeom>
          <a:noFill/>
          <a:ln w="12700">
            <a:solidFill>
              <a:srgbClr val="FCE3ED"/>
            </a:solidFill>
            <a:prstDash val="solid"/>
          </a:ln>
        </p:spPr>
      </p:sp>
      <p:sp>
        <p:nvSpPr>
          <p:cNvPr id="30" name="Shape 28"/>
          <p:cNvSpPr/>
          <p:nvPr/>
        </p:nvSpPr>
        <p:spPr>
          <a:xfrm>
            <a:off x="6492240" y="4242816"/>
            <a:ext cx="384048" cy="384048"/>
          </a:xfrm>
          <a:prstGeom prst="ellipse">
            <a:avLst/>
          </a:prstGeom>
          <a:solidFill>
            <a:srgbClr val="FCE3ED"/>
          </a:solidFill>
          <a:ln/>
        </p:spPr>
      </p:sp>
      <p:sp>
        <p:nvSpPr>
          <p:cNvPr id="31" name="Text 29"/>
          <p:cNvSpPr/>
          <p:nvPr/>
        </p:nvSpPr>
        <p:spPr>
          <a:xfrm>
            <a:off x="6492240" y="4242816"/>
            <a:ext cx="384048" cy="384048"/>
          </a:xfrm>
          <a:prstGeom prst="rect">
            <a:avLst/>
          </a:prstGeom>
          <a:noFill/>
          <a:ln/>
        </p:spPr>
        <p:txBody>
          <a:bodyPr wrap="square" lIns="0" tIns="0" rIns="0" bIns="0" rtlCol="0" anchor="ctr"/>
          <a:lstStyle/>
          <a:p>
            <a:pPr algn="ctr" indent="0" marL="0">
              <a:buNone/>
            </a:pPr>
            <a:r>
              <a:rPr lang="en-US" sz="924" b="1" dirty="0">
                <a:solidFill>
                  <a:srgbClr val="8C3F63"/>
                </a:solidFill>
                <a:latin typeface="Calibri" pitchFamily="34" charset="0"/>
                <a:ea typeface="Calibri" pitchFamily="34" charset="-122"/>
                <a:cs typeface="Calibri" pitchFamily="34" charset="-120"/>
              </a:rPr>
              <a:t>5</a:t>
            </a:r>
            <a:endParaRPr lang="en-US" sz="924" dirty="0"/>
          </a:p>
        </p:txBody>
      </p:sp>
      <p:sp>
        <p:nvSpPr>
          <p:cNvPr id="32" name="Text 30"/>
          <p:cNvSpPr/>
          <p:nvPr/>
        </p:nvSpPr>
        <p:spPr>
          <a:xfrm>
            <a:off x="7086600" y="4160520"/>
            <a:ext cx="4114800" cy="274320"/>
          </a:xfrm>
          <a:prstGeom prst="rect">
            <a:avLst/>
          </a:prstGeom>
          <a:noFill/>
          <a:ln/>
        </p:spPr>
        <p:txBody>
          <a:bodyPr wrap="square" lIns="0" tIns="0" rIns="0" bIns="0" rtlCol="0" anchor="ctr"/>
          <a:lstStyle/>
          <a:p>
            <a:pPr indent="0" marL="0">
              <a:buNone/>
            </a:pPr>
            <a:r>
              <a:rPr lang="en-US" sz="1050" b="1" spc="100" kern="0" dirty="0">
                <a:solidFill>
                  <a:srgbClr val="F5A9C6"/>
                </a:solidFill>
                <a:latin typeface="Calibri" pitchFamily="34" charset="0"/>
                <a:ea typeface="Calibri" pitchFamily="34" charset="-122"/>
                <a:cs typeface="Calibri" pitchFamily="34" charset="-120"/>
              </a:rPr>
              <a:t>GV HƯỚNG DẪN</a:t>
            </a:r>
            <a:endParaRPr lang="en-US" sz="1050" dirty="0"/>
          </a:p>
        </p:txBody>
      </p:sp>
      <p:sp>
        <p:nvSpPr>
          <p:cNvPr id="33" name="Text 31"/>
          <p:cNvSpPr/>
          <p:nvPr/>
        </p:nvSpPr>
        <p:spPr>
          <a:xfrm>
            <a:off x="7086600" y="4389120"/>
            <a:ext cx="4114800" cy="365760"/>
          </a:xfrm>
          <a:prstGeom prst="rect">
            <a:avLst/>
          </a:prstGeom>
          <a:noFill/>
          <a:ln/>
        </p:spPr>
        <p:txBody>
          <a:bodyPr wrap="square" lIns="0" tIns="0" rIns="0" bIns="0" rtlCol="0" anchor="ctr"/>
          <a:lstStyle/>
          <a:p>
            <a:pPr indent="0" marL="0">
              <a:buNone/>
            </a:pPr>
            <a:r>
              <a:rPr lang="en-US" sz="1500" b="1" dirty="0">
                <a:solidFill>
                  <a:srgbClr val="5A3A47"/>
                </a:solidFill>
                <a:latin typeface="Calibri" pitchFamily="34" charset="0"/>
                <a:ea typeface="Calibri" pitchFamily="34" charset="-122"/>
                <a:cs typeface="Calibri" pitchFamily="34" charset="-120"/>
              </a:rPr>
              <a:t>Phạm Thị Dung</a:t>
            </a:r>
            <a:endParaRPr lang="en-US" sz="1500" dirty="0"/>
          </a:p>
        </p:txBody>
      </p:sp>
      <p:sp>
        <p:nvSpPr>
          <p:cNvPr id="34" name="Shape 32"/>
          <p:cNvSpPr/>
          <p:nvPr/>
        </p:nvSpPr>
        <p:spPr>
          <a:xfrm>
            <a:off x="6492240" y="4846320"/>
            <a:ext cx="4754880" cy="0"/>
          </a:xfrm>
          <a:prstGeom prst="line">
            <a:avLst/>
          </a:prstGeom>
          <a:noFill/>
          <a:ln w="12700">
            <a:solidFill>
              <a:srgbClr val="FCE3ED"/>
            </a:solidFill>
            <a:prstDash val="solid"/>
          </a:ln>
        </p:spPr>
      </p:sp>
      <p:sp>
        <p:nvSpPr>
          <p:cNvPr id="35" name="Shape 33"/>
          <p:cNvSpPr/>
          <p:nvPr/>
        </p:nvSpPr>
        <p:spPr>
          <a:xfrm>
            <a:off x="6492240" y="4992624"/>
            <a:ext cx="384048" cy="384048"/>
          </a:xfrm>
          <a:prstGeom prst="ellipse">
            <a:avLst/>
          </a:prstGeom>
          <a:solidFill>
            <a:srgbClr val="FCE3ED"/>
          </a:solidFill>
          <a:ln/>
        </p:spPr>
      </p:sp>
      <p:sp>
        <p:nvSpPr>
          <p:cNvPr id="36" name="Text 34"/>
          <p:cNvSpPr/>
          <p:nvPr/>
        </p:nvSpPr>
        <p:spPr>
          <a:xfrm>
            <a:off x="6492240" y="4992624"/>
            <a:ext cx="384048" cy="384048"/>
          </a:xfrm>
          <a:prstGeom prst="rect">
            <a:avLst/>
          </a:prstGeom>
          <a:noFill/>
          <a:ln/>
        </p:spPr>
        <p:txBody>
          <a:bodyPr wrap="square" lIns="0" tIns="0" rIns="0" bIns="0" rtlCol="0" anchor="ctr"/>
          <a:lstStyle/>
          <a:p>
            <a:pPr algn="ctr" indent="0" marL="0">
              <a:buNone/>
            </a:pPr>
            <a:r>
              <a:rPr lang="en-US" sz="924" b="1" dirty="0">
                <a:solidFill>
                  <a:srgbClr val="8C3F63"/>
                </a:solidFill>
                <a:latin typeface="Calibri" pitchFamily="34" charset="0"/>
                <a:ea typeface="Calibri" pitchFamily="34" charset="-122"/>
                <a:cs typeface="Calibri" pitchFamily="34" charset="-120"/>
              </a:rPr>
              <a:t>6</a:t>
            </a:r>
            <a:endParaRPr lang="en-US" sz="924" dirty="0"/>
          </a:p>
        </p:txBody>
      </p:sp>
      <p:sp>
        <p:nvSpPr>
          <p:cNvPr id="37" name="Text 35"/>
          <p:cNvSpPr/>
          <p:nvPr/>
        </p:nvSpPr>
        <p:spPr>
          <a:xfrm>
            <a:off x="7086600" y="4910328"/>
            <a:ext cx="4114800" cy="274320"/>
          </a:xfrm>
          <a:prstGeom prst="rect">
            <a:avLst/>
          </a:prstGeom>
          <a:noFill/>
          <a:ln/>
        </p:spPr>
        <p:txBody>
          <a:bodyPr wrap="square" lIns="0" tIns="0" rIns="0" bIns="0" rtlCol="0" anchor="ctr"/>
          <a:lstStyle/>
          <a:p>
            <a:pPr indent="0" marL="0">
              <a:buNone/>
            </a:pPr>
            <a:r>
              <a:rPr lang="en-US" sz="1050" b="1" spc="100" kern="0" dirty="0">
                <a:solidFill>
                  <a:srgbClr val="F5A9C6"/>
                </a:solidFill>
                <a:latin typeface="Calibri" pitchFamily="34" charset="0"/>
                <a:ea typeface="Calibri" pitchFamily="34" charset="-122"/>
                <a:cs typeface="Calibri" pitchFamily="34" charset="-120"/>
              </a:rPr>
              <a:t>NGÀY</a:t>
            </a:r>
            <a:endParaRPr lang="en-US" sz="1050" dirty="0"/>
          </a:p>
        </p:txBody>
      </p:sp>
      <p:sp>
        <p:nvSpPr>
          <p:cNvPr id="38" name="Text 36"/>
          <p:cNvSpPr/>
          <p:nvPr/>
        </p:nvSpPr>
        <p:spPr>
          <a:xfrm>
            <a:off x="7086600" y="5138928"/>
            <a:ext cx="4114800" cy="365760"/>
          </a:xfrm>
          <a:prstGeom prst="rect">
            <a:avLst/>
          </a:prstGeom>
          <a:noFill/>
          <a:ln/>
        </p:spPr>
        <p:txBody>
          <a:bodyPr wrap="square" lIns="0" tIns="0" rIns="0" bIns="0" rtlCol="0" anchor="ctr"/>
          <a:lstStyle/>
          <a:p>
            <a:pPr indent="0" marL="0">
              <a:buNone/>
            </a:pPr>
            <a:r>
              <a:rPr lang="en-US" sz="1500" b="1" dirty="0">
                <a:solidFill>
                  <a:srgbClr val="5A3A47"/>
                </a:solidFill>
                <a:latin typeface="Calibri" pitchFamily="34" charset="0"/>
                <a:ea typeface="Calibri" pitchFamily="34" charset="-122"/>
                <a:cs typeface="Calibri" pitchFamily="34" charset="-120"/>
              </a:rPr>
              <a:t>18/08/2026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7FA"/>
        </a:solidFill>
      </p:bgPr>
    </p:bg>
    <p:spTree>
      <p:nvGrpSpPr>
        <p:cNvPr id="1" name=""/>
        <p:cNvGrpSpPr/>
        <p:nvPr/>
      </p:nvGrpSpPr>
      <p:grpSpPr>
        <a:xfrm>
          <a:off x="0" y="0"/>
          <a:ext cx="0" cy="0"/>
          <a:chOff x="0" y="0"/>
          <a:chExt cx="0" cy="0"/>
        </a:xfrm>
      </p:grpSpPr>
      <p:sp>
        <p:nvSpPr>
          <p:cNvPr id="2" name="Shape 0"/>
          <p:cNvSpPr/>
          <p:nvPr/>
        </p:nvSpPr>
        <p:spPr>
          <a:xfrm>
            <a:off x="10607040" y="-1463040"/>
            <a:ext cx="3840480" cy="3840480"/>
          </a:xfrm>
          <a:prstGeom prst="ellipse">
            <a:avLst/>
          </a:prstGeom>
          <a:solidFill>
            <a:srgbClr val="F5A9C6">
              <a:alpha val="22000"/>
            </a:srgbClr>
          </a:solidFill>
          <a:ln/>
        </p:spPr>
      </p:sp>
      <p:sp>
        <p:nvSpPr>
          <p:cNvPr id="3" name="Shape 1"/>
          <p:cNvSpPr/>
          <p:nvPr/>
        </p:nvSpPr>
        <p:spPr>
          <a:xfrm>
            <a:off x="-1280160" y="5120640"/>
            <a:ext cx="3108960" cy="3108960"/>
          </a:xfrm>
          <a:prstGeom prst="ellipse">
            <a:avLst/>
          </a:prstGeom>
          <a:solidFill>
            <a:srgbClr val="F5A9C6">
              <a:alpha val="18000"/>
            </a:srgbClr>
          </a:solidFill>
          <a:ln/>
        </p:spPr>
      </p:sp>
      <p:sp>
        <p:nvSpPr>
          <p:cNvPr id="4" name="Text 2"/>
          <p:cNvSpPr/>
          <p:nvPr/>
        </p:nvSpPr>
        <p:spPr>
          <a:xfrm>
            <a:off x="640080" y="502920"/>
            <a:ext cx="10881360" cy="274320"/>
          </a:xfrm>
          <a:prstGeom prst="rect">
            <a:avLst/>
          </a:prstGeom>
          <a:noFill/>
          <a:ln/>
        </p:spPr>
        <p:txBody>
          <a:bodyPr wrap="square" lIns="0" tIns="0" rIns="0" bIns="0" rtlCol="0" anchor="ctr"/>
          <a:lstStyle/>
          <a:p>
            <a:pPr indent="0" marL="0">
              <a:buNone/>
            </a:pPr>
            <a:r>
              <a:rPr lang="en-US" sz="1200" b="1" spc="200" kern="0" dirty="0">
                <a:solidFill>
                  <a:srgbClr val="F5A9C6"/>
                </a:solidFill>
                <a:latin typeface="Calibri" pitchFamily="34" charset="0"/>
                <a:ea typeface="Calibri" pitchFamily="34" charset="-122"/>
                <a:cs typeface="Calibri" pitchFamily="34" charset="-120"/>
              </a:rPr>
              <a:t>SINH VIÊN CHỌN HƯỚNG NGHỀ YÊU THÍCH</a:t>
            </a:r>
            <a:endParaRPr lang="en-US" sz="1200" dirty="0"/>
          </a:p>
        </p:txBody>
      </p:sp>
      <p:sp>
        <p:nvSpPr>
          <p:cNvPr id="5" name="Text 3"/>
          <p:cNvSpPr/>
          <p:nvPr/>
        </p:nvSpPr>
        <p:spPr>
          <a:xfrm>
            <a:off x="640080" y="777240"/>
            <a:ext cx="10881360" cy="822960"/>
          </a:xfrm>
          <a:prstGeom prst="rect">
            <a:avLst/>
          </a:prstGeom>
          <a:noFill/>
          <a:ln/>
        </p:spPr>
        <p:txBody>
          <a:bodyPr wrap="square" lIns="0" tIns="0" rIns="0" bIns="0" rtlCol="0" anchor="ctr"/>
          <a:lstStyle/>
          <a:p>
            <a:pPr indent="0" marL="0">
              <a:buNone/>
            </a:pPr>
            <a:r>
              <a:rPr lang="en-US" sz="3400" b="1" dirty="0">
                <a:solidFill>
                  <a:srgbClr val="8C3F63"/>
                </a:solidFill>
                <a:latin typeface="Cambria" pitchFamily="34" charset="0"/>
                <a:ea typeface="Cambria" pitchFamily="34" charset="-122"/>
                <a:cs typeface="Cambria" pitchFamily="34" charset="-120"/>
              </a:rPr>
              <a:t>Định hướng nghề nghiệp</a:t>
            </a:r>
            <a:endParaRPr lang="en-US" sz="3400" dirty="0"/>
          </a:p>
        </p:txBody>
      </p:sp>
      <p:sp>
        <p:nvSpPr>
          <p:cNvPr id="6" name="Shape 4"/>
          <p:cNvSpPr/>
          <p:nvPr/>
        </p:nvSpPr>
        <p:spPr>
          <a:xfrm>
            <a:off x="640080" y="1783080"/>
            <a:ext cx="10881360" cy="1234440"/>
          </a:xfrm>
          <a:prstGeom prst="roundRect">
            <a:avLst>
              <a:gd name="adj" fmla="val 10370"/>
            </a:avLst>
          </a:prstGeom>
          <a:solidFill>
            <a:srgbClr val="FCE3ED"/>
          </a:solidFill>
          <a:ln/>
        </p:spPr>
      </p:sp>
      <p:sp>
        <p:nvSpPr>
          <p:cNvPr id="7" name="Text 5"/>
          <p:cNvSpPr/>
          <p:nvPr/>
        </p:nvSpPr>
        <p:spPr>
          <a:xfrm>
            <a:off x="1005840" y="1783080"/>
            <a:ext cx="10149840" cy="1234440"/>
          </a:xfrm>
          <a:prstGeom prst="rect">
            <a:avLst/>
          </a:prstGeom>
          <a:noFill/>
          <a:ln/>
        </p:spPr>
        <p:txBody>
          <a:bodyPr wrap="square" lIns="0" tIns="0" rIns="0" bIns="0" rtlCol="0" anchor="ctr"/>
          <a:lstStyle/>
          <a:p>
            <a:pPr indent="0" marL="0">
              <a:lnSpc>
                <a:spcPct val="135000"/>
              </a:lnSpc>
              <a:buNone/>
            </a:pPr>
            <a:r>
              <a:rPr lang="en-US" sz="1500" i="1" dirty="0">
                <a:solidFill>
                  <a:srgbClr val="5A3A47"/>
                </a:solidFill>
                <a:latin typeface="Calibri" pitchFamily="34" charset="0"/>
                <a:ea typeface="Calibri" pitchFamily="34" charset="-122"/>
                <a:cs typeface="Calibri" pitchFamily="34" charset="-120"/>
              </a:rPr>
              <a:t>Mục tiêu em hướng tới ngành nghề về nghiên cứu và phát triển dự án phần mềm công nghệ thông tin. Em muốn nghiên cứu các luồng xử lý của hệ thống thông tin, thiết kế hệ thống.</a:t>
            </a:r>
            <a:endParaRPr lang="en-US" sz="1500" dirty="0"/>
          </a:p>
        </p:txBody>
      </p:sp>
      <p:sp>
        <p:nvSpPr>
          <p:cNvPr id="8" name="Shape 6"/>
          <p:cNvSpPr/>
          <p:nvPr/>
        </p:nvSpPr>
        <p:spPr>
          <a:xfrm>
            <a:off x="640080" y="3383280"/>
            <a:ext cx="3429000" cy="2377440"/>
          </a:xfrm>
          <a:prstGeom prst="roundRect">
            <a:avLst>
              <a:gd name="adj" fmla="val 6154"/>
            </a:avLst>
          </a:prstGeom>
          <a:solidFill>
            <a:srgbClr val="FFFFFF"/>
          </a:solidFill>
          <a:ln/>
          <a:effectLst>
            <a:outerShdw sx="100000" sy="100000" kx="0" ky="0" algn="bl" rotWithShape="0" blurRad="127000" dist="38100" dir="5400000">
              <a:srgbClr val="D88AA8">
                <a:alpha val="30000"/>
              </a:srgbClr>
            </a:outerShdw>
          </a:effectLst>
        </p:spPr>
      </p:sp>
      <p:sp>
        <p:nvSpPr>
          <p:cNvPr id="9" name="Shape 7"/>
          <p:cNvSpPr/>
          <p:nvPr/>
        </p:nvSpPr>
        <p:spPr>
          <a:xfrm>
            <a:off x="1943100" y="3703320"/>
            <a:ext cx="822960" cy="822960"/>
          </a:xfrm>
          <a:prstGeom prst="ellipse">
            <a:avLst/>
          </a:prstGeom>
          <a:solidFill>
            <a:srgbClr val="F5A9C6"/>
          </a:solidFill>
          <a:ln/>
        </p:spPr>
      </p:sp>
      <p:sp>
        <p:nvSpPr>
          <p:cNvPr id="10" name="Text 8"/>
          <p:cNvSpPr/>
          <p:nvPr/>
        </p:nvSpPr>
        <p:spPr>
          <a:xfrm>
            <a:off x="1943100" y="3703320"/>
            <a:ext cx="822960" cy="822960"/>
          </a:xfrm>
          <a:prstGeom prst="rect">
            <a:avLst/>
          </a:prstGeom>
          <a:noFill/>
          <a:ln/>
        </p:spPr>
        <p:txBody>
          <a:bodyPr wrap="square" lIns="0" tIns="0" rIns="0" bIns="0" rtlCol="0" anchor="ctr"/>
          <a:lstStyle/>
          <a:p>
            <a:pPr algn="ctr" indent="0" marL="0">
              <a:buNone/>
            </a:pPr>
            <a:r>
              <a:rPr lang="en-US" sz="1980" b="1" dirty="0">
                <a:solidFill>
                  <a:srgbClr val="FFFFFF"/>
                </a:solidFill>
                <a:latin typeface="Calibri" pitchFamily="34" charset="0"/>
                <a:ea typeface="Calibri" pitchFamily="34" charset="-122"/>
                <a:cs typeface="Calibri" pitchFamily="34" charset="-120"/>
              </a:rPr>
              <a:t>R&amp;D</a:t>
            </a:r>
            <a:endParaRPr lang="en-US" sz="1980" dirty="0"/>
          </a:p>
        </p:txBody>
      </p:sp>
      <p:sp>
        <p:nvSpPr>
          <p:cNvPr id="11" name="Text 9"/>
          <p:cNvSpPr/>
          <p:nvPr/>
        </p:nvSpPr>
        <p:spPr>
          <a:xfrm>
            <a:off x="868680" y="4663440"/>
            <a:ext cx="2971800" cy="457200"/>
          </a:xfrm>
          <a:prstGeom prst="rect">
            <a:avLst/>
          </a:prstGeom>
          <a:noFill/>
          <a:ln/>
        </p:spPr>
        <p:txBody>
          <a:bodyPr wrap="square" lIns="0" tIns="0" rIns="0" bIns="0" rtlCol="0" anchor="ctr"/>
          <a:lstStyle/>
          <a:p>
            <a:pPr algn="ctr" indent="0" marL="0">
              <a:buNone/>
            </a:pPr>
            <a:r>
              <a:rPr lang="en-US" sz="1500" b="1" dirty="0">
                <a:solidFill>
                  <a:srgbClr val="8C3F63"/>
                </a:solidFill>
                <a:latin typeface="Cambria" pitchFamily="34" charset="0"/>
                <a:ea typeface="Cambria" pitchFamily="34" charset="-122"/>
                <a:cs typeface="Cambria" pitchFamily="34" charset="-120"/>
              </a:rPr>
              <a:t>Nghiên cứu &amp; phát triển</a:t>
            </a:r>
            <a:endParaRPr lang="en-US" sz="1500" dirty="0"/>
          </a:p>
        </p:txBody>
      </p:sp>
      <p:sp>
        <p:nvSpPr>
          <p:cNvPr id="12" name="Text 10"/>
          <p:cNvSpPr/>
          <p:nvPr/>
        </p:nvSpPr>
        <p:spPr>
          <a:xfrm>
            <a:off x="914400" y="5074920"/>
            <a:ext cx="2880360" cy="594360"/>
          </a:xfrm>
          <a:prstGeom prst="rect">
            <a:avLst/>
          </a:prstGeom>
          <a:noFill/>
          <a:ln/>
        </p:spPr>
        <p:txBody>
          <a:bodyPr wrap="square" lIns="0" tIns="0" rIns="0" bIns="0" rtlCol="0" anchor="ctr"/>
          <a:lstStyle/>
          <a:p>
            <a:pPr algn="ctr" indent="0" marL="0">
              <a:lnSpc>
                <a:spcPct val="120000"/>
              </a:lnSpc>
              <a:buNone/>
            </a:pPr>
            <a:r>
              <a:rPr lang="en-US" sz="1050" dirty="0">
                <a:solidFill>
                  <a:srgbClr val="5A3A47"/>
                </a:solidFill>
                <a:latin typeface="Calibri" pitchFamily="34" charset="0"/>
                <a:ea typeface="Calibri" pitchFamily="34" charset="-122"/>
                <a:cs typeface="Calibri" pitchFamily="34" charset="-120"/>
              </a:rPr>
              <a:t>Tìm hiểu và xây dựng các dự án phần mềm công nghệ thông tin thực tế.</a:t>
            </a:r>
            <a:endParaRPr lang="en-US" sz="1050" dirty="0"/>
          </a:p>
        </p:txBody>
      </p:sp>
      <p:sp>
        <p:nvSpPr>
          <p:cNvPr id="13" name="Shape 11"/>
          <p:cNvSpPr/>
          <p:nvPr/>
        </p:nvSpPr>
        <p:spPr>
          <a:xfrm>
            <a:off x="4389120" y="3383280"/>
            <a:ext cx="3429000" cy="2377440"/>
          </a:xfrm>
          <a:prstGeom prst="roundRect">
            <a:avLst>
              <a:gd name="adj" fmla="val 6154"/>
            </a:avLst>
          </a:prstGeom>
          <a:solidFill>
            <a:srgbClr val="FFFFFF"/>
          </a:solidFill>
          <a:ln/>
          <a:effectLst>
            <a:outerShdw sx="100000" sy="100000" kx="0" ky="0" algn="bl" rotWithShape="0" blurRad="127000" dist="38100" dir="5400000">
              <a:srgbClr val="D88AA8">
                <a:alpha val="30000"/>
              </a:srgbClr>
            </a:outerShdw>
          </a:effectLst>
        </p:spPr>
      </p:sp>
      <p:sp>
        <p:nvSpPr>
          <p:cNvPr id="14" name="Shape 12"/>
          <p:cNvSpPr/>
          <p:nvPr/>
        </p:nvSpPr>
        <p:spPr>
          <a:xfrm>
            <a:off x="5692140" y="3703320"/>
            <a:ext cx="822960" cy="822960"/>
          </a:xfrm>
          <a:prstGeom prst="ellipse">
            <a:avLst/>
          </a:prstGeom>
          <a:solidFill>
            <a:srgbClr val="F5A9C6"/>
          </a:solidFill>
          <a:ln/>
        </p:spPr>
      </p:sp>
      <p:sp>
        <p:nvSpPr>
          <p:cNvPr id="15" name="Text 13"/>
          <p:cNvSpPr/>
          <p:nvPr/>
        </p:nvSpPr>
        <p:spPr>
          <a:xfrm>
            <a:off x="5692140" y="3703320"/>
            <a:ext cx="822960" cy="822960"/>
          </a:xfrm>
          <a:prstGeom prst="rect">
            <a:avLst/>
          </a:prstGeom>
          <a:noFill/>
          <a:ln/>
        </p:spPr>
        <p:txBody>
          <a:bodyPr wrap="square" lIns="0" tIns="0" rIns="0" bIns="0" rtlCol="0" anchor="ctr"/>
          <a:lstStyle/>
          <a:p>
            <a:pPr algn="ctr" indent="0" marL="0">
              <a:buNone/>
            </a:pPr>
            <a:r>
              <a:rPr lang="en-US" sz="1980" b="1" dirty="0">
                <a:solidFill>
                  <a:srgbClr val="FFFFFF"/>
                </a:solidFill>
                <a:latin typeface="Calibri" pitchFamily="34" charset="0"/>
                <a:ea typeface="Calibri" pitchFamily="34" charset="-122"/>
                <a:cs typeface="Calibri" pitchFamily="34" charset="-120"/>
              </a:rPr>
              <a:t>→</a:t>
            </a:r>
            <a:endParaRPr lang="en-US" sz="1980" dirty="0"/>
          </a:p>
        </p:txBody>
      </p:sp>
      <p:sp>
        <p:nvSpPr>
          <p:cNvPr id="16" name="Text 14"/>
          <p:cNvSpPr/>
          <p:nvPr/>
        </p:nvSpPr>
        <p:spPr>
          <a:xfrm>
            <a:off x="4617720" y="4663440"/>
            <a:ext cx="2971800" cy="457200"/>
          </a:xfrm>
          <a:prstGeom prst="rect">
            <a:avLst/>
          </a:prstGeom>
          <a:noFill/>
          <a:ln/>
        </p:spPr>
        <p:txBody>
          <a:bodyPr wrap="square" lIns="0" tIns="0" rIns="0" bIns="0" rtlCol="0" anchor="ctr"/>
          <a:lstStyle/>
          <a:p>
            <a:pPr algn="ctr" indent="0" marL="0">
              <a:buNone/>
            </a:pPr>
            <a:r>
              <a:rPr lang="en-US" sz="1500" b="1" dirty="0">
                <a:solidFill>
                  <a:srgbClr val="8C3F63"/>
                </a:solidFill>
                <a:latin typeface="Cambria" pitchFamily="34" charset="0"/>
                <a:ea typeface="Cambria" pitchFamily="34" charset="-122"/>
                <a:cs typeface="Cambria" pitchFamily="34" charset="-120"/>
              </a:rPr>
              <a:t>Luồng xử lý hệ thống</a:t>
            </a:r>
            <a:endParaRPr lang="en-US" sz="1500" dirty="0"/>
          </a:p>
        </p:txBody>
      </p:sp>
      <p:sp>
        <p:nvSpPr>
          <p:cNvPr id="17" name="Text 15"/>
          <p:cNvSpPr/>
          <p:nvPr/>
        </p:nvSpPr>
        <p:spPr>
          <a:xfrm>
            <a:off x="4663440" y="5074920"/>
            <a:ext cx="2880360" cy="594360"/>
          </a:xfrm>
          <a:prstGeom prst="rect">
            <a:avLst/>
          </a:prstGeom>
          <a:noFill/>
          <a:ln/>
        </p:spPr>
        <p:txBody>
          <a:bodyPr wrap="square" lIns="0" tIns="0" rIns="0" bIns="0" rtlCol="0" anchor="ctr"/>
          <a:lstStyle/>
          <a:p>
            <a:pPr algn="ctr" indent="0" marL="0">
              <a:lnSpc>
                <a:spcPct val="120000"/>
              </a:lnSpc>
              <a:buNone/>
            </a:pPr>
            <a:r>
              <a:rPr lang="en-US" sz="1050" dirty="0">
                <a:solidFill>
                  <a:srgbClr val="5A3A47"/>
                </a:solidFill>
                <a:latin typeface="Calibri" pitchFamily="34" charset="0"/>
                <a:ea typeface="Calibri" pitchFamily="34" charset="-122"/>
                <a:cs typeface="Calibri" pitchFamily="34" charset="-120"/>
              </a:rPr>
              <a:t>Phân tích các luồng xử lý dữ liệu và nghiệp vụ trong hệ thống thông tin.</a:t>
            </a:r>
            <a:endParaRPr lang="en-US" sz="1050" dirty="0"/>
          </a:p>
        </p:txBody>
      </p:sp>
      <p:sp>
        <p:nvSpPr>
          <p:cNvPr id="18" name="Shape 16"/>
          <p:cNvSpPr/>
          <p:nvPr/>
        </p:nvSpPr>
        <p:spPr>
          <a:xfrm>
            <a:off x="8138160" y="3383280"/>
            <a:ext cx="3429000" cy="2377440"/>
          </a:xfrm>
          <a:prstGeom prst="roundRect">
            <a:avLst>
              <a:gd name="adj" fmla="val 6154"/>
            </a:avLst>
          </a:prstGeom>
          <a:solidFill>
            <a:srgbClr val="FFFFFF"/>
          </a:solidFill>
          <a:ln/>
          <a:effectLst>
            <a:outerShdw sx="100000" sy="100000" kx="0" ky="0" algn="bl" rotWithShape="0" blurRad="127000" dist="38100" dir="5400000">
              <a:srgbClr val="D88AA8">
                <a:alpha val="30000"/>
              </a:srgbClr>
            </a:outerShdw>
          </a:effectLst>
        </p:spPr>
      </p:sp>
      <p:sp>
        <p:nvSpPr>
          <p:cNvPr id="19" name="Shape 17"/>
          <p:cNvSpPr/>
          <p:nvPr/>
        </p:nvSpPr>
        <p:spPr>
          <a:xfrm>
            <a:off x="9441180" y="3703320"/>
            <a:ext cx="822960" cy="822960"/>
          </a:xfrm>
          <a:prstGeom prst="ellipse">
            <a:avLst/>
          </a:prstGeom>
          <a:solidFill>
            <a:srgbClr val="F5A9C6"/>
          </a:solidFill>
          <a:ln/>
        </p:spPr>
      </p:sp>
      <p:sp>
        <p:nvSpPr>
          <p:cNvPr id="20" name="Text 18"/>
          <p:cNvSpPr/>
          <p:nvPr/>
        </p:nvSpPr>
        <p:spPr>
          <a:xfrm>
            <a:off x="9441180" y="3703320"/>
            <a:ext cx="822960" cy="822960"/>
          </a:xfrm>
          <a:prstGeom prst="rect">
            <a:avLst/>
          </a:prstGeom>
          <a:noFill/>
          <a:ln/>
        </p:spPr>
        <p:txBody>
          <a:bodyPr wrap="square" lIns="0" tIns="0" rIns="0" bIns="0" rtlCol="0" anchor="ctr"/>
          <a:lstStyle/>
          <a:p>
            <a:pPr algn="ctr" indent="0" marL="0">
              <a:buNone/>
            </a:pPr>
            <a:r>
              <a:rPr lang="en-US" sz="1980" b="1" dirty="0">
                <a:solidFill>
                  <a:srgbClr val="FFFFFF"/>
                </a:solidFill>
                <a:latin typeface="Calibri" pitchFamily="34" charset="0"/>
                <a:ea typeface="Calibri" pitchFamily="34" charset="-122"/>
                <a:cs typeface="Calibri" pitchFamily="34" charset="-120"/>
              </a:rPr>
              <a:t>⌂</a:t>
            </a:r>
            <a:endParaRPr lang="en-US" sz="1980" dirty="0"/>
          </a:p>
        </p:txBody>
      </p:sp>
      <p:sp>
        <p:nvSpPr>
          <p:cNvPr id="21" name="Text 19"/>
          <p:cNvSpPr/>
          <p:nvPr/>
        </p:nvSpPr>
        <p:spPr>
          <a:xfrm>
            <a:off x="8366760" y="4663440"/>
            <a:ext cx="2971800" cy="457200"/>
          </a:xfrm>
          <a:prstGeom prst="rect">
            <a:avLst/>
          </a:prstGeom>
          <a:noFill/>
          <a:ln/>
        </p:spPr>
        <p:txBody>
          <a:bodyPr wrap="square" lIns="0" tIns="0" rIns="0" bIns="0" rtlCol="0" anchor="ctr"/>
          <a:lstStyle/>
          <a:p>
            <a:pPr algn="ctr" indent="0" marL="0">
              <a:buNone/>
            </a:pPr>
            <a:r>
              <a:rPr lang="en-US" sz="1500" b="1" dirty="0">
                <a:solidFill>
                  <a:srgbClr val="8C3F63"/>
                </a:solidFill>
                <a:latin typeface="Cambria" pitchFamily="34" charset="0"/>
                <a:ea typeface="Cambria" pitchFamily="34" charset="-122"/>
                <a:cs typeface="Cambria" pitchFamily="34" charset="-120"/>
              </a:rPr>
              <a:t>Thiết kế hệ thống</a:t>
            </a:r>
            <a:endParaRPr lang="en-US" sz="1500" dirty="0"/>
          </a:p>
        </p:txBody>
      </p:sp>
      <p:sp>
        <p:nvSpPr>
          <p:cNvPr id="22" name="Text 20"/>
          <p:cNvSpPr/>
          <p:nvPr/>
        </p:nvSpPr>
        <p:spPr>
          <a:xfrm>
            <a:off x="8412480" y="5074920"/>
            <a:ext cx="2880360" cy="594360"/>
          </a:xfrm>
          <a:prstGeom prst="rect">
            <a:avLst/>
          </a:prstGeom>
          <a:noFill/>
          <a:ln/>
        </p:spPr>
        <p:txBody>
          <a:bodyPr wrap="square" lIns="0" tIns="0" rIns="0" bIns="0" rtlCol="0" anchor="ctr"/>
          <a:lstStyle/>
          <a:p>
            <a:pPr algn="ctr" indent="0" marL="0">
              <a:lnSpc>
                <a:spcPct val="120000"/>
              </a:lnSpc>
              <a:buNone/>
            </a:pPr>
            <a:r>
              <a:rPr lang="en-US" sz="1050" dirty="0">
                <a:solidFill>
                  <a:srgbClr val="5A3A47"/>
                </a:solidFill>
                <a:latin typeface="Calibri" pitchFamily="34" charset="0"/>
                <a:ea typeface="Calibri" pitchFamily="34" charset="-122"/>
                <a:cs typeface="Calibri" pitchFamily="34" charset="-120"/>
              </a:rPr>
              <a:t>Thiết kế kiến trúc và giao diện hệ thống thông tin bài bản, khoa học.</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7FA"/>
        </a:solidFill>
      </p:bgPr>
    </p:bg>
    <p:spTree>
      <p:nvGrpSpPr>
        <p:cNvPr id="1" name=""/>
        <p:cNvGrpSpPr/>
        <p:nvPr/>
      </p:nvGrpSpPr>
      <p:grpSpPr>
        <a:xfrm>
          <a:off x="0" y="0"/>
          <a:ext cx="0" cy="0"/>
          <a:chOff x="0" y="0"/>
          <a:chExt cx="0" cy="0"/>
        </a:xfrm>
      </p:grpSpPr>
      <p:sp>
        <p:nvSpPr>
          <p:cNvPr id="2" name="Shape 0"/>
          <p:cNvSpPr/>
          <p:nvPr/>
        </p:nvSpPr>
        <p:spPr>
          <a:xfrm>
            <a:off x="10607040" y="-1463040"/>
            <a:ext cx="3840480" cy="3840480"/>
          </a:xfrm>
          <a:prstGeom prst="ellipse">
            <a:avLst/>
          </a:prstGeom>
          <a:solidFill>
            <a:srgbClr val="F5A9C6">
              <a:alpha val="22000"/>
            </a:srgbClr>
          </a:solidFill>
          <a:ln/>
        </p:spPr>
      </p:sp>
      <p:sp>
        <p:nvSpPr>
          <p:cNvPr id="3" name="Shape 1"/>
          <p:cNvSpPr/>
          <p:nvPr/>
        </p:nvSpPr>
        <p:spPr>
          <a:xfrm>
            <a:off x="-1280160" y="5120640"/>
            <a:ext cx="3108960" cy="3108960"/>
          </a:xfrm>
          <a:prstGeom prst="ellipse">
            <a:avLst/>
          </a:prstGeom>
          <a:solidFill>
            <a:srgbClr val="F5A9C6">
              <a:alpha val="18000"/>
            </a:srgbClr>
          </a:solidFill>
          <a:ln/>
        </p:spPr>
      </p:sp>
      <p:sp>
        <p:nvSpPr>
          <p:cNvPr id="4" name="Text 2"/>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5A9C6"/>
                </a:solidFill>
                <a:latin typeface="Calibri" pitchFamily="34" charset="0"/>
                <a:ea typeface="Calibri" pitchFamily="34" charset="-122"/>
                <a:cs typeface="Calibri" pitchFamily="34" charset="-120"/>
              </a:rPr>
              <a:t>NỀN TẢNG CÔNG NGHỆ</a:t>
            </a:r>
            <a:endParaRPr lang="en-US" sz="1200" dirty="0"/>
          </a:p>
        </p:txBody>
      </p:sp>
      <p:sp>
        <p:nvSpPr>
          <p:cNvPr id="5" name="Text 3"/>
          <p:cNvSpPr/>
          <p:nvPr/>
        </p:nvSpPr>
        <p:spPr>
          <a:xfrm>
            <a:off x="640080" y="731520"/>
            <a:ext cx="7772400" cy="685800"/>
          </a:xfrm>
          <a:prstGeom prst="rect">
            <a:avLst/>
          </a:prstGeom>
          <a:noFill/>
          <a:ln/>
        </p:spPr>
        <p:txBody>
          <a:bodyPr wrap="square" lIns="0" tIns="0" rIns="0" bIns="0" rtlCol="0" anchor="ctr"/>
          <a:lstStyle/>
          <a:p>
            <a:pPr indent="0" marL="0">
              <a:buNone/>
            </a:pPr>
            <a:r>
              <a:rPr lang="en-US" sz="3000" b="1" dirty="0">
                <a:solidFill>
                  <a:srgbClr val="8C3F63"/>
                </a:solidFill>
                <a:latin typeface="Cambria" pitchFamily="34" charset="0"/>
                <a:ea typeface="Cambria" pitchFamily="34" charset="-122"/>
                <a:cs typeface="Cambria" pitchFamily="34" charset="-120"/>
              </a:rPr>
              <a:t>Framework hỗ trợ nghề nghiệp</a:t>
            </a:r>
            <a:endParaRPr lang="en-US" sz="3000" dirty="0"/>
          </a:p>
        </p:txBody>
      </p:sp>
      <p:sp>
        <p:nvSpPr>
          <p:cNvPr id="6" name="Shape 4"/>
          <p:cNvSpPr/>
          <p:nvPr/>
        </p:nvSpPr>
        <p:spPr>
          <a:xfrm>
            <a:off x="8138160" y="685800"/>
            <a:ext cx="3383280" cy="777240"/>
          </a:xfrm>
          <a:prstGeom prst="roundRect">
            <a:avLst>
              <a:gd name="adj" fmla="val 49412"/>
            </a:avLst>
          </a:prstGeom>
          <a:solidFill>
            <a:srgbClr val="F5A9C6"/>
          </a:solidFill>
          <a:ln/>
        </p:spPr>
      </p:sp>
      <p:sp>
        <p:nvSpPr>
          <p:cNvPr id="7" name="Text 5"/>
          <p:cNvSpPr/>
          <p:nvPr/>
        </p:nvSpPr>
        <p:spPr>
          <a:xfrm>
            <a:off x="8138160" y="685800"/>
            <a:ext cx="338328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React Native · Expo Router</a:t>
            </a:r>
            <a:endParaRPr lang="en-US" sz="1300" dirty="0"/>
          </a:p>
        </p:txBody>
      </p:sp>
      <p:sp>
        <p:nvSpPr>
          <p:cNvPr id="8" name="Shape 6"/>
          <p:cNvSpPr/>
          <p:nvPr/>
        </p:nvSpPr>
        <p:spPr>
          <a:xfrm>
            <a:off x="640080" y="1691640"/>
            <a:ext cx="5257800" cy="2880360"/>
          </a:xfrm>
          <a:prstGeom prst="roundRect">
            <a:avLst>
              <a:gd name="adj" fmla="val 5079"/>
            </a:avLst>
          </a:prstGeom>
          <a:solidFill>
            <a:srgbClr val="FFFFFF"/>
          </a:solidFill>
          <a:ln/>
          <a:effectLst>
            <a:outerShdw sx="100000" sy="100000" kx="0" ky="0" algn="bl" rotWithShape="0" blurRad="127000" dist="38100" dir="5400000">
              <a:srgbClr val="D88AA8">
                <a:alpha val="30000"/>
              </a:srgbClr>
            </a:outerShdw>
          </a:effectLst>
        </p:spPr>
      </p:sp>
      <p:sp>
        <p:nvSpPr>
          <p:cNvPr id="9" name="Shape 7"/>
          <p:cNvSpPr/>
          <p:nvPr/>
        </p:nvSpPr>
        <p:spPr>
          <a:xfrm>
            <a:off x="960120" y="1965960"/>
            <a:ext cx="457200" cy="457200"/>
          </a:xfrm>
          <a:prstGeom prst="ellipse">
            <a:avLst/>
          </a:prstGeom>
          <a:solidFill>
            <a:srgbClr val="C9E6C6"/>
          </a:solidFill>
          <a:ln/>
        </p:spPr>
      </p:sp>
      <p:sp>
        <p:nvSpPr>
          <p:cNvPr id="10" name="Text 8"/>
          <p:cNvSpPr/>
          <p:nvPr/>
        </p:nvSpPr>
        <p:spPr>
          <a:xfrm>
            <a:off x="960120" y="1965960"/>
            <a:ext cx="457200" cy="457200"/>
          </a:xfrm>
          <a:prstGeom prst="rect">
            <a:avLst/>
          </a:prstGeom>
          <a:noFill/>
          <a:ln/>
        </p:spPr>
        <p:txBody>
          <a:bodyPr wrap="square" lIns="0" tIns="0" rIns="0" bIns="0" rtlCol="0" anchor="ctr"/>
          <a:lstStyle/>
          <a:p>
            <a:pPr algn="ctr" indent="0" marL="0">
              <a:buNone/>
            </a:pPr>
            <a:r>
              <a:rPr lang="en-US" sz="1100" b="1" dirty="0">
                <a:solidFill>
                  <a:srgbClr val="2F6B2A"/>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1554480" y="1984248"/>
            <a:ext cx="3200400" cy="411480"/>
          </a:xfrm>
          <a:prstGeom prst="rect">
            <a:avLst/>
          </a:prstGeom>
          <a:noFill/>
          <a:ln/>
        </p:spPr>
        <p:txBody>
          <a:bodyPr wrap="square" lIns="0" tIns="0" rIns="0" bIns="0" rtlCol="0" anchor="ctr"/>
          <a:lstStyle/>
          <a:p>
            <a:pPr indent="0" marL="0">
              <a:buNone/>
            </a:pPr>
            <a:r>
              <a:rPr lang="en-US" sz="1700" b="1" dirty="0">
                <a:solidFill>
                  <a:srgbClr val="8C3F63"/>
                </a:solidFill>
                <a:latin typeface="Cambria" pitchFamily="34" charset="0"/>
                <a:ea typeface="Cambria" pitchFamily="34" charset="-122"/>
                <a:cs typeface="Cambria" pitchFamily="34" charset="-120"/>
              </a:rPr>
              <a:t>Ưu điểm</a:t>
            </a:r>
            <a:endParaRPr lang="en-US" sz="1700" dirty="0"/>
          </a:p>
        </p:txBody>
      </p:sp>
      <p:sp>
        <p:nvSpPr>
          <p:cNvPr id="12" name="Text 10"/>
          <p:cNvSpPr/>
          <p:nvPr/>
        </p:nvSpPr>
        <p:spPr>
          <a:xfrm>
            <a:off x="960120" y="2560320"/>
            <a:ext cx="4617720" cy="187452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250" dirty="0">
                <a:solidFill>
                  <a:srgbClr val="5A3A47"/>
                </a:solidFill>
                <a:latin typeface="Calibri" pitchFamily="34" charset="0"/>
                <a:ea typeface="Calibri" pitchFamily="34" charset="-122"/>
                <a:cs typeface="Calibri" pitchFamily="34" charset="-120"/>
              </a:rPr>
              <a:t>Viết một lần code, chạy được cả iOS và Android</a:t>
            </a:r>
            <a:endParaRPr lang="en-US" sz="1250" dirty="0"/>
          </a:p>
          <a:p>
            <a:pPr marL="342900" indent="-342900">
              <a:lnSpc>
                <a:spcPct val="115000"/>
              </a:lnSpc>
              <a:spcAft>
                <a:spcPts val="1000"/>
              </a:spcAft>
              <a:buSzPct val="100000"/>
              <a:buChar char="•"/>
            </a:pPr>
            <a:r>
              <a:rPr lang="en-US" sz="1250" dirty="0">
                <a:solidFill>
                  <a:srgbClr val="5A3A47"/>
                </a:solidFill>
                <a:latin typeface="Calibri" pitchFamily="34" charset="0"/>
                <a:ea typeface="Calibri" pitchFamily="34" charset="-122"/>
                <a:cs typeface="Calibri" pitchFamily="34" charset="-120"/>
              </a:rPr>
              <a:t>Cộng đồng lớn, kho thư viện phong phú</a:t>
            </a:r>
            <a:endParaRPr lang="en-US" sz="1250" dirty="0"/>
          </a:p>
          <a:p>
            <a:pPr marL="342900" indent="-342900">
              <a:lnSpc>
                <a:spcPct val="115000"/>
              </a:lnSpc>
              <a:spcAft>
                <a:spcPts val="1000"/>
              </a:spcAft>
              <a:buSzPct val="100000"/>
              <a:buChar char="•"/>
            </a:pPr>
            <a:r>
              <a:rPr lang="en-US" sz="1250" dirty="0">
                <a:solidFill>
                  <a:srgbClr val="5A3A47"/>
                </a:solidFill>
                <a:latin typeface="Calibri" pitchFamily="34" charset="0"/>
                <a:ea typeface="Calibri" pitchFamily="34" charset="-122"/>
                <a:cs typeface="Calibri" pitchFamily="34" charset="-120"/>
              </a:rPr>
              <a:t>Fast Refresh giúp phát triển và xem kết quả nhanh</a:t>
            </a:r>
            <a:endParaRPr lang="en-US" sz="1250" dirty="0"/>
          </a:p>
          <a:p>
            <a:pPr marL="342900" indent="-342900">
              <a:lnSpc>
                <a:spcPct val="115000"/>
              </a:lnSpc>
              <a:spcAft>
                <a:spcPts val="1000"/>
              </a:spcAft>
              <a:buSzPct val="100000"/>
              <a:buChar char="•"/>
            </a:pPr>
            <a:r>
              <a:rPr lang="en-US" sz="1250" dirty="0">
                <a:solidFill>
                  <a:srgbClr val="5A3A47"/>
                </a:solidFill>
                <a:latin typeface="Calibri" pitchFamily="34" charset="0"/>
                <a:ea typeface="Calibri" pitchFamily="34" charset="-122"/>
                <a:cs typeface="Calibri" pitchFamily="34" charset="-120"/>
              </a:rPr>
              <a:t>Expo Router định tuyến theo cấu trúc thư mục, dễ tổ chức màn hình</a:t>
            </a:r>
            <a:endParaRPr lang="en-US" sz="1250" dirty="0"/>
          </a:p>
        </p:txBody>
      </p:sp>
      <p:sp>
        <p:nvSpPr>
          <p:cNvPr id="13" name="Shape 11"/>
          <p:cNvSpPr/>
          <p:nvPr/>
        </p:nvSpPr>
        <p:spPr>
          <a:xfrm>
            <a:off x="6263640" y="1691640"/>
            <a:ext cx="5257800" cy="2880360"/>
          </a:xfrm>
          <a:prstGeom prst="roundRect">
            <a:avLst>
              <a:gd name="adj" fmla="val 5079"/>
            </a:avLst>
          </a:prstGeom>
          <a:solidFill>
            <a:srgbClr val="FFFFFF"/>
          </a:solidFill>
          <a:ln/>
          <a:effectLst>
            <a:outerShdw sx="100000" sy="100000" kx="0" ky="0" algn="bl" rotWithShape="0" blurRad="127000" dist="38100" dir="5400000">
              <a:srgbClr val="D88AA8">
                <a:alpha val="30000"/>
              </a:srgbClr>
            </a:outerShdw>
          </a:effectLst>
        </p:spPr>
      </p:sp>
      <p:sp>
        <p:nvSpPr>
          <p:cNvPr id="14" name="Shape 12"/>
          <p:cNvSpPr/>
          <p:nvPr/>
        </p:nvSpPr>
        <p:spPr>
          <a:xfrm>
            <a:off x="6583680" y="1965960"/>
            <a:ext cx="457200" cy="457200"/>
          </a:xfrm>
          <a:prstGeom prst="ellipse">
            <a:avLst/>
          </a:prstGeom>
          <a:solidFill>
            <a:srgbClr val="F3C3C3"/>
          </a:solidFill>
          <a:ln/>
        </p:spPr>
      </p:sp>
      <p:sp>
        <p:nvSpPr>
          <p:cNvPr id="15" name="Text 13"/>
          <p:cNvSpPr/>
          <p:nvPr/>
        </p:nvSpPr>
        <p:spPr>
          <a:xfrm>
            <a:off x="6583680" y="1965960"/>
            <a:ext cx="457200" cy="457200"/>
          </a:xfrm>
          <a:prstGeom prst="rect">
            <a:avLst/>
          </a:prstGeom>
          <a:noFill/>
          <a:ln/>
        </p:spPr>
        <p:txBody>
          <a:bodyPr wrap="square" lIns="0" tIns="0" rIns="0" bIns="0" rtlCol="0" anchor="ctr"/>
          <a:lstStyle/>
          <a:p>
            <a:pPr algn="ctr" indent="0" marL="0">
              <a:buNone/>
            </a:pPr>
            <a:r>
              <a:rPr lang="en-US" sz="1100" b="1" dirty="0">
                <a:solidFill>
                  <a:srgbClr val="8C2F2F"/>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7178040" y="1984248"/>
            <a:ext cx="3200400" cy="411480"/>
          </a:xfrm>
          <a:prstGeom prst="rect">
            <a:avLst/>
          </a:prstGeom>
          <a:noFill/>
          <a:ln/>
        </p:spPr>
        <p:txBody>
          <a:bodyPr wrap="square" lIns="0" tIns="0" rIns="0" bIns="0" rtlCol="0" anchor="ctr"/>
          <a:lstStyle/>
          <a:p>
            <a:pPr indent="0" marL="0">
              <a:buNone/>
            </a:pPr>
            <a:r>
              <a:rPr lang="en-US" sz="1700" b="1" dirty="0">
                <a:solidFill>
                  <a:srgbClr val="8C3F63"/>
                </a:solidFill>
                <a:latin typeface="Cambria" pitchFamily="34" charset="0"/>
                <a:ea typeface="Cambria" pitchFamily="34" charset="-122"/>
                <a:cs typeface="Cambria" pitchFamily="34" charset="-120"/>
              </a:rPr>
              <a:t>Nhược điểm</a:t>
            </a:r>
            <a:endParaRPr lang="en-US" sz="1700" dirty="0"/>
          </a:p>
        </p:txBody>
      </p:sp>
      <p:sp>
        <p:nvSpPr>
          <p:cNvPr id="17" name="Text 15"/>
          <p:cNvSpPr/>
          <p:nvPr/>
        </p:nvSpPr>
        <p:spPr>
          <a:xfrm>
            <a:off x="6583680" y="2560320"/>
            <a:ext cx="4617720" cy="187452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1250" dirty="0">
                <a:solidFill>
                  <a:srgbClr val="5A3A47"/>
                </a:solidFill>
                <a:latin typeface="Calibri" pitchFamily="34" charset="0"/>
                <a:ea typeface="Calibri" pitchFamily="34" charset="-122"/>
                <a:cs typeface="Calibri" pitchFamily="34" charset="-120"/>
              </a:rPr>
              <a:t>Hiệu năng chưa bằng ứng dụng native thuần túy</a:t>
            </a:r>
            <a:endParaRPr lang="en-US" sz="1250" dirty="0"/>
          </a:p>
          <a:p>
            <a:pPr marL="342900" indent="-342900">
              <a:lnSpc>
                <a:spcPct val="115000"/>
              </a:lnSpc>
              <a:spcAft>
                <a:spcPts val="1000"/>
              </a:spcAft>
              <a:buSzPct val="100000"/>
              <a:buChar char="•"/>
            </a:pPr>
            <a:r>
              <a:rPr lang="en-US" sz="1250" dirty="0">
                <a:solidFill>
                  <a:srgbClr val="5A3A47"/>
                </a:solidFill>
                <a:latin typeface="Calibri" pitchFamily="34" charset="0"/>
                <a:ea typeface="Calibri" pitchFamily="34" charset="-122"/>
                <a:cs typeface="Calibri" pitchFamily="34" charset="-120"/>
              </a:rPr>
              <a:t>Một số tính năng phần cứng cần viết thêm module native</a:t>
            </a:r>
            <a:endParaRPr lang="en-US" sz="1250" dirty="0"/>
          </a:p>
          <a:p>
            <a:pPr marL="342900" indent="-342900">
              <a:lnSpc>
                <a:spcPct val="115000"/>
              </a:lnSpc>
              <a:spcAft>
                <a:spcPts val="1000"/>
              </a:spcAft>
              <a:buSzPct val="100000"/>
              <a:buChar char="•"/>
            </a:pPr>
            <a:r>
              <a:rPr lang="en-US" sz="1250" dirty="0">
                <a:solidFill>
                  <a:srgbClr val="5A3A47"/>
                </a:solidFill>
                <a:latin typeface="Calibri" pitchFamily="34" charset="0"/>
                <a:ea typeface="Calibri" pitchFamily="34" charset="-122"/>
                <a:cs typeface="Calibri" pitchFamily="34" charset="-120"/>
              </a:rPr>
              <a:t>Dung lượng ứng dụng thường lớn hơn app native</a:t>
            </a:r>
            <a:endParaRPr lang="en-US" sz="1250" dirty="0"/>
          </a:p>
        </p:txBody>
      </p:sp>
      <p:sp>
        <p:nvSpPr>
          <p:cNvPr id="18" name="Shape 16"/>
          <p:cNvSpPr/>
          <p:nvPr/>
        </p:nvSpPr>
        <p:spPr>
          <a:xfrm>
            <a:off x="640080" y="4846320"/>
            <a:ext cx="10881360" cy="822960"/>
          </a:xfrm>
          <a:prstGeom prst="roundRect">
            <a:avLst>
              <a:gd name="adj" fmla="val 17778"/>
            </a:avLst>
          </a:prstGeom>
          <a:solidFill>
            <a:srgbClr val="FCE3ED"/>
          </a:solidFill>
          <a:ln/>
        </p:spPr>
      </p:sp>
      <p:sp>
        <p:nvSpPr>
          <p:cNvPr id="19" name="Text 17"/>
          <p:cNvSpPr/>
          <p:nvPr/>
        </p:nvSpPr>
        <p:spPr>
          <a:xfrm>
            <a:off x="1005840" y="4956048"/>
            <a:ext cx="2743200" cy="274320"/>
          </a:xfrm>
          <a:prstGeom prst="rect">
            <a:avLst/>
          </a:prstGeom>
          <a:noFill/>
          <a:ln/>
        </p:spPr>
        <p:txBody>
          <a:bodyPr wrap="square" lIns="0" tIns="0" rIns="0" bIns="0" rtlCol="0" anchor="ctr"/>
          <a:lstStyle/>
          <a:p>
            <a:pPr indent="0" marL="0">
              <a:buNone/>
            </a:pPr>
            <a:r>
              <a:rPr lang="en-US" sz="1050" b="1" spc="100" kern="0" dirty="0">
                <a:solidFill>
                  <a:srgbClr val="F5A9C6"/>
                </a:solidFill>
                <a:latin typeface="Calibri" pitchFamily="34" charset="0"/>
                <a:ea typeface="Calibri" pitchFamily="34" charset="-122"/>
                <a:cs typeface="Calibri" pitchFamily="34" charset="-120"/>
              </a:rPr>
              <a:t>TÊN PROJECT</a:t>
            </a:r>
            <a:endParaRPr lang="en-US" sz="1050" dirty="0"/>
          </a:p>
        </p:txBody>
      </p:sp>
      <p:sp>
        <p:nvSpPr>
          <p:cNvPr id="20" name="Text 18"/>
          <p:cNvSpPr/>
          <p:nvPr/>
        </p:nvSpPr>
        <p:spPr>
          <a:xfrm>
            <a:off x="1005840" y="5212080"/>
            <a:ext cx="7315200" cy="384048"/>
          </a:xfrm>
          <a:prstGeom prst="rect">
            <a:avLst/>
          </a:prstGeom>
          <a:noFill/>
          <a:ln/>
        </p:spPr>
        <p:txBody>
          <a:bodyPr wrap="square" lIns="0" tIns="0" rIns="0" bIns="0" rtlCol="0" anchor="ctr"/>
          <a:lstStyle/>
          <a:p>
            <a:pPr indent="0" marL="0">
              <a:buNone/>
            </a:pPr>
            <a:r>
              <a:rPr lang="en-US" sz="1700" b="1" dirty="0">
                <a:solidFill>
                  <a:srgbClr val="8C3F63"/>
                </a:solidFill>
                <a:latin typeface="Courier New" pitchFamily="34" charset="0"/>
                <a:ea typeface="Courier New" pitchFamily="34" charset="-122"/>
                <a:cs typeface="Courier New" pitchFamily="34" charset="-120"/>
              </a:rPr>
              <a:t>24CT1_NGUYENTHITHUCNGAN</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7FA"/>
        </a:solidFill>
      </p:bgPr>
    </p:bg>
    <p:spTree>
      <p:nvGrpSpPr>
        <p:cNvPr id="1" name=""/>
        <p:cNvGrpSpPr/>
        <p:nvPr/>
      </p:nvGrpSpPr>
      <p:grpSpPr>
        <a:xfrm>
          <a:off x="0" y="0"/>
          <a:ext cx="0" cy="0"/>
          <a:chOff x="0" y="0"/>
          <a:chExt cx="0" cy="0"/>
        </a:xfrm>
      </p:grpSpPr>
      <p:sp>
        <p:nvSpPr>
          <p:cNvPr id="2" name="Shape 0"/>
          <p:cNvSpPr/>
          <p:nvPr/>
        </p:nvSpPr>
        <p:spPr>
          <a:xfrm>
            <a:off x="10607040" y="-1463040"/>
            <a:ext cx="3840480" cy="3840480"/>
          </a:xfrm>
          <a:prstGeom prst="ellipse">
            <a:avLst/>
          </a:prstGeom>
          <a:solidFill>
            <a:srgbClr val="F5A9C6">
              <a:alpha val="22000"/>
            </a:srgbClr>
          </a:solidFill>
          <a:ln/>
        </p:spPr>
      </p:sp>
      <p:sp>
        <p:nvSpPr>
          <p:cNvPr id="3" name="Shape 1"/>
          <p:cNvSpPr/>
          <p:nvPr/>
        </p:nvSpPr>
        <p:spPr>
          <a:xfrm>
            <a:off x="-1280160" y="5120640"/>
            <a:ext cx="3108960" cy="3108960"/>
          </a:xfrm>
          <a:prstGeom prst="ellipse">
            <a:avLst/>
          </a:prstGeom>
          <a:solidFill>
            <a:srgbClr val="F5A9C6">
              <a:alpha val="18000"/>
            </a:srgbClr>
          </a:solidFill>
          <a:ln/>
        </p:spPr>
      </p:sp>
      <p:sp>
        <p:nvSpPr>
          <p:cNvPr id="4" name="Text 2"/>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5A9C6"/>
                </a:solidFill>
                <a:latin typeface="Calibri" pitchFamily="34" charset="0"/>
                <a:ea typeface="Calibri" pitchFamily="34" charset="-122"/>
                <a:cs typeface="Calibri" pitchFamily="34" charset="-120"/>
              </a:rPr>
              <a:t>HƯỚNG DẪN CÀI ĐẶT</a:t>
            </a:r>
            <a:endParaRPr lang="en-US" sz="1200" dirty="0"/>
          </a:p>
        </p:txBody>
      </p:sp>
      <p:sp>
        <p:nvSpPr>
          <p:cNvPr id="5" name="Text 3"/>
          <p:cNvSpPr/>
          <p:nvPr/>
        </p:nvSpPr>
        <p:spPr>
          <a:xfrm>
            <a:off x="640080" y="731520"/>
            <a:ext cx="7315200" cy="685800"/>
          </a:xfrm>
          <a:prstGeom prst="rect">
            <a:avLst/>
          </a:prstGeom>
          <a:noFill/>
          <a:ln/>
        </p:spPr>
        <p:txBody>
          <a:bodyPr wrap="square" lIns="0" tIns="0" rIns="0" bIns="0" rtlCol="0" anchor="ctr"/>
          <a:lstStyle/>
          <a:p>
            <a:pPr indent="0" marL="0">
              <a:buNone/>
            </a:pPr>
            <a:r>
              <a:rPr lang="en-US" sz="3000" b="1" dirty="0">
                <a:solidFill>
                  <a:srgbClr val="8C3F63"/>
                </a:solidFill>
                <a:latin typeface="Cambria" pitchFamily="34" charset="0"/>
                <a:ea typeface="Cambria" pitchFamily="34" charset="-122"/>
                <a:cs typeface="Cambria" pitchFamily="34" charset="-120"/>
              </a:rPr>
              <a:t>Cài đặt công cụ trên máy tính</a:t>
            </a:r>
            <a:endParaRPr lang="en-US" sz="3000" dirty="0"/>
          </a:p>
        </p:txBody>
      </p:sp>
      <p:sp>
        <p:nvSpPr>
          <p:cNvPr id="6" name="Shape 4"/>
          <p:cNvSpPr/>
          <p:nvPr/>
        </p:nvSpPr>
        <p:spPr>
          <a:xfrm>
            <a:off x="640080" y="1691640"/>
            <a:ext cx="457200" cy="457200"/>
          </a:xfrm>
          <a:prstGeom prst="ellipse">
            <a:avLst/>
          </a:prstGeom>
          <a:solidFill>
            <a:srgbClr val="F5A9C6"/>
          </a:solidFill>
          <a:ln/>
        </p:spPr>
      </p:sp>
      <p:sp>
        <p:nvSpPr>
          <p:cNvPr id="7" name="Text 5"/>
          <p:cNvSpPr/>
          <p:nvPr/>
        </p:nvSpPr>
        <p:spPr>
          <a:xfrm>
            <a:off x="640080" y="169164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280160" y="1673352"/>
            <a:ext cx="5120640" cy="365760"/>
          </a:xfrm>
          <a:prstGeom prst="rect">
            <a:avLst/>
          </a:prstGeom>
          <a:noFill/>
          <a:ln/>
        </p:spPr>
        <p:txBody>
          <a:bodyPr wrap="square" lIns="0" tIns="0" rIns="0" bIns="0" rtlCol="0" anchor="ctr"/>
          <a:lstStyle/>
          <a:p>
            <a:pPr indent="0" marL="0">
              <a:buNone/>
            </a:pPr>
            <a:r>
              <a:rPr lang="en-US" sz="1500" b="1" dirty="0">
                <a:solidFill>
                  <a:srgbClr val="8C3F63"/>
                </a:solidFill>
                <a:latin typeface="Cambria" pitchFamily="34" charset="0"/>
                <a:ea typeface="Cambria" pitchFamily="34" charset="-122"/>
                <a:cs typeface="Cambria" pitchFamily="34" charset="-120"/>
              </a:rPr>
              <a:t>Khởi tạo project Expo</a:t>
            </a:r>
            <a:endParaRPr lang="en-US" sz="1500" dirty="0"/>
          </a:p>
        </p:txBody>
      </p:sp>
      <p:sp>
        <p:nvSpPr>
          <p:cNvPr id="9" name="Shape 7"/>
          <p:cNvSpPr/>
          <p:nvPr/>
        </p:nvSpPr>
        <p:spPr>
          <a:xfrm>
            <a:off x="1280160" y="2075688"/>
            <a:ext cx="5212080" cy="502920"/>
          </a:xfrm>
          <a:prstGeom prst="roundRect">
            <a:avLst>
              <a:gd name="adj" fmla="val 18182"/>
            </a:avLst>
          </a:prstGeom>
          <a:solidFill>
            <a:srgbClr val="3B2530"/>
          </a:solidFill>
          <a:ln/>
        </p:spPr>
      </p:sp>
      <p:sp>
        <p:nvSpPr>
          <p:cNvPr id="10" name="Text 8"/>
          <p:cNvSpPr/>
          <p:nvPr/>
        </p:nvSpPr>
        <p:spPr>
          <a:xfrm>
            <a:off x="1417320" y="2075688"/>
            <a:ext cx="4937760" cy="502920"/>
          </a:xfrm>
          <a:prstGeom prst="rect">
            <a:avLst/>
          </a:prstGeom>
          <a:noFill/>
          <a:ln/>
        </p:spPr>
        <p:txBody>
          <a:bodyPr wrap="square" lIns="0" tIns="0" rIns="0" bIns="0" rtlCol="0" anchor="ctr"/>
          <a:lstStyle/>
          <a:p>
            <a:pPr indent="0" marL="0">
              <a:buNone/>
            </a:pPr>
            <a:r>
              <a:rPr lang="en-US" sz="1250" dirty="0">
                <a:solidFill>
                  <a:srgbClr val="F5D9E5"/>
                </a:solidFill>
                <a:latin typeface="Courier New" pitchFamily="34" charset="0"/>
                <a:ea typeface="Courier New" pitchFamily="34" charset="-122"/>
                <a:cs typeface="Courier New" pitchFamily="34" charset="-120"/>
              </a:rPr>
              <a:t>npx create-expo-app@latest &lt;TÊN APP&gt;</a:t>
            </a:r>
            <a:endParaRPr lang="en-US" sz="1250" dirty="0"/>
          </a:p>
        </p:txBody>
      </p:sp>
      <p:sp>
        <p:nvSpPr>
          <p:cNvPr id="11" name="Shape 9"/>
          <p:cNvSpPr/>
          <p:nvPr/>
        </p:nvSpPr>
        <p:spPr>
          <a:xfrm>
            <a:off x="868680" y="2194560"/>
            <a:ext cx="0" cy="868680"/>
          </a:xfrm>
          <a:prstGeom prst="line">
            <a:avLst/>
          </a:prstGeom>
          <a:noFill/>
          <a:ln w="25400">
            <a:solidFill>
              <a:srgbClr val="FCE3ED"/>
            </a:solidFill>
            <a:prstDash val="solid"/>
          </a:ln>
        </p:spPr>
      </p:sp>
      <p:sp>
        <p:nvSpPr>
          <p:cNvPr id="12" name="Shape 10"/>
          <p:cNvSpPr/>
          <p:nvPr/>
        </p:nvSpPr>
        <p:spPr>
          <a:xfrm>
            <a:off x="640080" y="3063240"/>
            <a:ext cx="457200" cy="457200"/>
          </a:xfrm>
          <a:prstGeom prst="ellipse">
            <a:avLst/>
          </a:prstGeom>
          <a:solidFill>
            <a:srgbClr val="F5A9C6"/>
          </a:solidFill>
          <a:ln/>
        </p:spPr>
      </p:sp>
      <p:sp>
        <p:nvSpPr>
          <p:cNvPr id="13" name="Text 11"/>
          <p:cNvSpPr/>
          <p:nvPr/>
        </p:nvSpPr>
        <p:spPr>
          <a:xfrm>
            <a:off x="640080" y="306324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280160" y="3044952"/>
            <a:ext cx="5120640" cy="365760"/>
          </a:xfrm>
          <a:prstGeom prst="rect">
            <a:avLst/>
          </a:prstGeom>
          <a:noFill/>
          <a:ln/>
        </p:spPr>
        <p:txBody>
          <a:bodyPr wrap="square" lIns="0" tIns="0" rIns="0" bIns="0" rtlCol="0" anchor="ctr"/>
          <a:lstStyle/>
          <a:p>
            <a:pPr indent="0" marL="0">
              <a:buNone/>
            </a:pPr>
            <a:r>
              <a:rPr lang="en-US" sz="1500" b="1" dirty="0">
                <a:solidFill>
                  <a:srgbClr val="8C3F63"/>
                </a:solidFill>
                <a:latin typeface="Cambria" pitchFamily="34" charset="0"/>
                <a:ea typeface="Cambria" pitchFamily="34" charset="-122"/>
                <a:cs typeface="Cambria" pitchFamily="34" charset="-120"/>
              </a:rPr>
              <a:t>Di chuyển vào thư mục project</a:t>
            </a:r>
            <a:endParaRPr lang="en-US" sz="1500" dirty="0"/>
          </a:p>
        </p:txBody>
      </p:sp>
      <p:sp>
        <p:nvSpPr>
          <p:cNvPr id="15" name="Shape 13"/>
          <p:cNvSpPr/>
          <p:nvPr/>
        </p:nvSpPr>
        <p:spPr>
          <a:xfrm>
            <a:off x="1280160" y="3447288"/>
            <a:ext cx="5212080" cy="502920"/>
          </a:xfrm>
          <a:prstGeom prst="roundRect">
            <a:avLst>
              <a:gd name="adj" fmla="val 18182"/>
            </a:avLst>
          </a:prstGeom>
          <a:solidFill>
            <a:srgbClr val="3B2530"/>
          </a:solidFill>
          <a:ln/>
        </p:spPr>
      </p:sp>
      <p:sp>
        <p:nvSpPr>
          <p:cNvPr id="16" name="Text 14"/>
          <p:cNvSpPr/>
          <p:nvPr/>
        </p:nvSpPr>
        <p:spPr>
          <a:xfrm>
            <a:off x="1417320" y="3447288"/>
            <a:ext cx="4937760" cy="502920"/>
          </a:xfrm>
          <a:prstGeom prst="rect">
            <a:avLst/>
          </a:prstGeom>
          <a:noFill/>
          <a:ln/>
        </p:spPr>
        <p:txBody>
          <a:bodyPr wrap="square" lIns="0" tIns="0" rIns="0" bIns="0" rtlCol="0" anchor="ctr"/>
          <a:lstStyle/>
          <a:p>
            <a:pPr indent="0" marL="0">
              <a:buNone/>
            </a:pPr>
            <a:r>
              <a:rPr lang="en-US" sz="1250" dirty="0">
                <a:solidFill>
                  <a:srgbClr val="F5D9E5"/>
                </a:solidFill>
                <a:latin typeface="Courier New" pitchFamily="34" charset="0"/>
                <a:ea typeface="Courier New" pitchFamily="34" charset="-122"/>
                <a:cs typeface="Courier New" pitchFamily="34" charset="-120"/>
              </a:rPr>
              <a:t>cd &lt;TÊN APP&gt;</a:t>
            </a:r>
            <a:endParaRPr lang="en-US" sz="1250" dirty="0"/>
          </a:p>
        </p:txBody>
      </p:sp>
      <p:sp>
        <p:nvSpPr>
          <p:cNvPr id="17" name="Shape 15"/>
          <p:cNvSpPr/>
          <p:nvPr/>
        </p:nvSpPr>
        <p:spPr>
          <a:xfrm>
            <a:off x="868680" y="3566160"/>
            <a:ext cx="0" cy="868680"/>
          </a:xfrm>
          <a:prstGeom prst="line">
            <a:avLst/>
          </a:prstGeom>
          <a:noFill/>
          <a:ln w="25400">
            <a:solidFill>
              <a:srgbClr val="FCE3ED"/>
            </a:solidFill>
            <a:prstDash val="solid"/>
          </a:ln>
        </p:spPr>
      </p:sp>
      <p:sp>
        <p:nvSpPr>
          <p:cNvPr id="18" name="Shape 16"/>
          <p:cNvSpPr/>
          <p:nvPr/>
        </p:nvSpPr>
        <p:spPr>
          <a:xfrm>
            <a:off x="640080" y="4434840"/>
            <a:ext cx="457200" cy="457200"/>
          </a:xfrm>
          <a:prstGeom prst="ellipse">
            <a:avLst/>
          </a:prstGeom>
          <a:solidFill>
            <a:srgbClr val="F5A9C6"/>
          </a:solidFill>
          <a:ln/>
        </p:spPr>
      </p:sp>
      <p:sp>
        <p:nvSpPr>
          <p:cNvPr id="19" name="Text 17"/>
          <p:cNvSpPr/>
          <p:nvPr/>
        </p:nvSpPr>
        <p:spPr>
          <a:xfrm>
            <a:off x="640080" y="443484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1280160" y="4416552"/>
            <a:ext cx="5120640" cy="365760"/>
          </a:xfrm>
          <a:prstGeom prst="rect">
            <a:avLst/>
          </a:prstGeom>
          <a:noFill/>
          <a:ln/>
        </p:spPr>
        <p:txBody>
          <a:bodyPr wrap="square" lIns="0" tIns="0" rIns="0" bIns="0" rtlCol="0" anchor="ctr"/>
          <a:lstStyle/>
          <a:p>
            <a:pPr indent="0" marL="0">
              <a:buNone/>
            </a:pPr>
            <a:r>
              <a:rPr lang="en-US" sz="1500" b="1" dirty="0">
                <a:solidFill>
                  <a:srgbClr val="8C3F63"/>
                </a:solidFill>
                <a:latin typeface="Cambria" pitchFamily="34" charset="0"/>
                <a:ea typeface="Cambria" pitchFamily="34" charset="-122"/>
                <a:cs typeface="Cambria" pitchFamily="34" charset="-120"/>
              </a:rPr>
              <a:t>Chạy ứng dụng</a:t>
            </a:r>
            <a:endParaRPr lang="en-US" sz="1500" dirty="0"/>
          </a:p>
        </p:txBody>
      </p:sp>
      <p:sp>
        <p:nvSpPr>
          <p:cNvPr id="21" name="Shape 19"/>
          <p:cNvSpPr/>
          <p:nvPr/>
        </p:nvSpPr>
        <p:spPr>
          <a:xfrm>
            <a:off x="1280160" y="4818888"/>
            <a:ext cx="5212080" cy="502920"/>
          </a:xfrm>
          <a:prstGeom prst="roundRect">
            <a:avLst>
              <a:gd name="adj" fmla="val 18182"/>
            </a:avLst>
          </a:prstGeom>
          <a:solidFill>
            <a:srgbClr val="3B2530"/>
          </a:solidFill>
          <a:ln/>
        </p:spPr>
      </p:sp>
      <p:sp>
        <p:nvSpPr>
          <p:cNvPr id="22" name="Text 20"/>
          <p:cNvSpPr/>
          <p:nvPr/>
        </p:nvSpPr>
        <p:spPr>
          <a:xfrm>
            <a:off x="1417320" y="4818888"/>
            <a:ext cx="4937760" cy="502920"/>
          </a:xfrm>
          <a:prstGeom prst="rect">
            <a:avLst/>
          </a:prstGeom>
          <a:noFill/>
          <a:ln/>
        </p:spPr>
        <p:txBody>
          <a:bodyPr wrap="square" lIns="0" tIns="0" rIns="0" bIns="0" rtlCol="0" anchor="ctr"/>
          <a:lstStyle/>
          <a:p>
            <a:pPr indent="0" marL="0">
              <a:buNone/>
            </a:pPr>
            <a:r>
              <a:rPr lang="en-US" sz="1250" dirty="0">
                <a:solidFill>
                  <a:srgbClr val="F5D9E5"/>
                </a:solidFill>
                <a:latin typeface="Courier New" pitchFamily="34" charset="0"/>
                <a:ea typeface="Courier New" pitchFamily="34" charset="-122"/>
                <a:cs typeface="Courier New" pitchFamily="34" charset="-120"/>
              </a:rPr>
              <a:t>npx expo start</a:t>
            </a:r>
            <a:endParaRPr lang="en-US" sz="1250" dirty="0"/>
          </a:p>
        </p:txBody>
      </p:sp>
      <p:sp>
        <p:nvSpPr>
          <p:cNvPr id="23" name="Shape 21"/>
          <p:cNvSpPr/>
          <p:nvPr/>
        </p:nvSpPr>
        <p:spPr>
          <a:xfrm>
            <a:off x="6629400" y="1554480"/>
            <a:ext cx="5029200" cy="4800600"/>
          </a:xfrm>
          <a:prstGeom prst="roundRect">
            <a:avLst>
              <a:gd name="adj" fmla="val 3048"/>
            </a:avLst>
          </a:prstGeom>
          <a:solidFill>
            <a:srgbClr val="FFFFFF"/>
          </a:solidFill>
          <a:ln/>
          <a:effectLst>
            <a:outerShdw sx="100000" sy="100000" kx="0" ky="0" algn="bl" rotWithShape="0" blurRad="152400" dist="50800" dir="5400000">
              <a:srgbClr val="D88AA8">
                <a:alpha val="35000"/>
              </a:srgbClr>
            </a:outerShdw>
          </a:effectLst>
        </p:spPr>
      </p:sp>
      <p:pic>
        <p:nvPicPr>
          <p:cNvPr id="24" name="Image 0" descr="expo_screenshot.png">    </p:cNvPr>
          <p:cNvPicPr>
            <a:picLocks noChangeAspect="1"/>
          </p:cNvPicPr>
          <p:nvPr/>
        </p:nvPicPr>
        <p:blipFill>
          <a:blip r:embed="rId1"/>
          <a:srcRect l="0" r="0" t="0" b="0"/>
          <a:stretch/>
        </p:blipFill>
        <p:spPr>
          <a:xfrm>
            <a:off x="6766560" y="1691640"/>
            <a:ext cx="4754880" cy="4297680"/>
          </a:xfrm>
          <a:prstGeom prst="rect">
            <a:avLst/>
          </a:prstGeom>
        </p:spPr>
      </p:pic>
      <p:sp>
        <p:nvSpPr>
          <p:cNvPr id="25" name="Text 22"/>
          <p:cNvSpPr/>
          <p:nvPr/>
        </p:nvSpPr>
        <p:spPr>
          <a:xfrm>
            <a:off x="6766560" y="6035040"/>
            <a:ext cx="4754880" cy="320040"/>
          </a:xfrm>
          <a:prstGeom prst="rect">
            <a:avLst/>
          </a:prstGeom>
          <a:noFill/>
          <a:ln/>
        </p:spPr>
        <p:txBody>
          <a:bodyPr wrap="square" lIns="0" tIns="0" rIns="0" bIns="0" rtlCol="0" anchor="ctr"/>
          <a:lstStyle/>
          <a:p>
            <a:pPr algn="ctr" indent="0" marL="0">
              <a:buNone/>
            </a:pPr>
            <a:r>
              <a:rPr lang="en-US" sz="1050" i="1" dirty="0">
                <a:solidFill>
                  <a:srgbClr val="5A3A47"/>
                </a:solidFill>
                <a:latin typeface="Calibri" pitchFamily="34" charset="0"/>
                <a:ea typeface="Calibri" pitchFamily="34" charset="-122"/>
                <a:cs typeface="Calibri" pitchFamily="34" charset="-120"/>
              </a:rPr>
              <a:t>Ảnh minh họa: Giao diện khởi động Expo Starter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7FA"/>
        </a:solidFill>
      </p:bgPr>
    </p:bg>
    <p:spTree>
      <p:nvGrpSpPr>
        <p:cNvPr id="1" name=""/>
        <p:cNvGrpSpPr/>
        <p:nvPr/>
      </p:nvGrpSpPr>
      <p:grpSpPr>
        <a:xfrm>
          <a:off x="0" y="0"/>
          <a:ext cx="0" cy="0"/>
          <a:chOff x="0" y="0"/>
          <a:chExt cx="0" cy="0"/>
        </a:xfrm>
      </p:grpSpPr>
      <p:sp>
        <p:nvSpPr>
          <p:cNvPr id="2" name="Shape 0"/>
          <p:cNvSpPr/>
          <p:nvPr/>
        </p:nvSpPr>
        <p:spPr>
          <a:xfrm>
            <a:off x="10607040" y="-1463040"/>
            <a:ext cx="3840480" cy="3840480"/>
          </a:xfrm>
          <a:prstGeom prst="ellipse">
            <a:avLst/>
          </a:prstGeom>
          <a:solidFill>
            <a:srgbClr val="F5A9C6">
              <a:alpha val="22000"/>
            </a:srgbClr>
          </a:solidFill>
          <a:ln/>
        </p:spPr>
      </p:sp>
      <p:sp>
        <p:nvSpPr>
          <p:cNvPr id="3" name="Shape 1"/>
          <p:cNvSpPr/>
          <p:nvPr/>
        </p:nvSpPr>
        <p:spPr>
          <a:xfrm>
            <a:off x="-1280160" y="5120640"/>
            <a:ext cx="3108960" cy="3108960"/>
          </a:xfrm>
          <a:prstGeom prst="ellipse">
            <a:avLst/>
          </a:prstGeom>
          <a:solidFill>
            <a:srgbClr val="F5A9C6">
              <a:alpha val="18000"/>
            </a:srgbClr>
          </a:solidFill>
          <a:ln/>
        </p:spPr>
      </p:sp>
      <p:sp>
        <p:nvSpPr>
          <p:cNvPr id="4" name="Text 2"/>
          <p:cNvSpPr/>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5A9C6"/>
                </a:solidFill>
                <a:latin typeface="Calibri" pitchFamily="34" charset="0"/>
                <a:ea typeface="Calibri" pitchFamily="34" charset="-122"/>
                <a:cs typeface="Calibri" pitchFamily="34" charset="-120"/>
              </a:rPr>
              <a:t>ẢNH MINH HỌA</a:t>
            </a:r>
            <a:endParaRPr lang="en-US" sz="1200" dirty="0"/>
          </a:p>
        </p:txBody>
      </p:sp>
      <p:sp>
        <p:nvSpPr>
          <p:cNvPr id="5" name="Text 3"/>
          <p:cNvSpPr/>
          <p:nvPr/>
        </p:nvSpPr>
        <p:spPr>
          <a:xfrm>
            <a:off x="640080" y="731520"/>
            <a:ext cx="10515600" cy="685800"/>
          </a:xfrm>
          <a:prstGeom prst="rect">
            <a:avLst/>
          </a:prstGeom>
          <a:noFill/>
          <a:ln/>
        </p:spPr>
        <p:txBody>
          <a:bodyPr wrap="square" lIns="0" tIns="0" rIns="0" bIns="0" rtlCol="0" anchor="ctr"/>
          <a:lstStyle/>
          <a:p>
            <a:pPr indent="0" marL="0">
              <a:buNone/>
            </a:pPr>
            <a:r>
              <a:rPr lang="en-US" sz="3000" b="1" dirty="0">
                <a:solidFill>
                  <a:srgbClr val="8C3F63"/>
                </a:solidFill>
                <a:latin typeface="Cambria" pitchFamily="34" charset="0"/>
                <a:ea typeface="Cambria" pitchFamily="34" charset="-122"/>
                <a:cs typeface="Cambria" pitchFamily="34" charset="-120"/>
              </a:rPr>
              <a:t>Giao diện khởi động Expo Starter</a:t>
            </a:r>
            <a:endParaRPr lang="en-US" sz="3000" dirty="0"/>
          </a:p>
        </p:txBody>
      </p:sp>
      <p:sp>
        <p:nvSpPr>
          <p:cNvPr id="6" name="Shape 4"/>
          <p:cNvSpPr/>
          <p:nvPr/>
        </p:nvSpPr>
        <p:spPr>
          <a:xfrm>
            <a:off x="1568196" y="1463040"/>
            <a:ext cx="9052560" cy="5212080"/>
          </a:xfrm>
          <a:prstGeom prst="roundRect">
            <a:avLst>
              <a:gd name="adj" fmla="val 2807"/>
            </a:avLst>
          </a:prstGeom>
          <a:solidFill>
            <a:srgbClr val="FFFFFF"/>
          </a:solidFill>
          <a:ln/>
          <a:effectLst>
            <a:outerShdw sx="100000" sy="100000" kx="0" ky="0" algn="bl" rotWithShape="0" blurRad="152400" dist="50800" dir="5400000">
              <a:srgbClr val="D88AA8">
                <a:alpha val="35000"/>
              </a:srgbClr>
            </a:outerShdw>
          </a:effectLst>
        </p:spPr>
      </p:sp>
      <p:pic>
        <p:nvPicPr>
          <p:cNvPr id="7" name="Image 0" descr="expo_screenshot2.png">    </p:cNvPr>
          <p:cNvPicPr>
            <a:picLocks noChangeAspect="1"/>
          </p:cNvPicPr>
          <p:nvPr/>
        </p:nvPicPr>
        <p:blipFill>
          <a:blip r:embed="rId1"/>
          <a:srcRect l="0" r="0" t="0" b="0"/>
          <a:stretch/>
        </p:blipFill>
        <p:spPr>
          <a:xfrm>
            <a:off x="1705356" y="1600200"/>
            <a:ext cx="8778240" cy="49377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8C3F63"/>
        </a:solidFill>
      </p:bgPr>
    </p:bg>
    <p:spTree>
      <p:nvGrpSpPr>
        <p:cNvPr id="1" name=""/>
        <p:cNvGrpSpPr/>
        <p:nvPr/>
      </p:nvGrpSpPr>
      <p:grpSpPr>
        <a:xfrm>
          <a:off x="0" y="0"/>
          <a:ext cx="0" cy="0"/>
          <a:chOff x="0" y="0"/>
          <a:chExt cx="0" cy="0"/>
        </a:xfrm>
      </p:grpSpPr>
      <p:sp>
        <p:nvSpPr>
          <p:cNvPr id="2" name="Shape 0"/>
          <p:cNvSpPr/>
          <p:nvPr/>
        </p:nvSpPr>
        <p:spPr>
          <a:xfrm>
            <a:off x="8961120" y="-1645920"/>
            <a:ext cx="4114800" cy="4114800"/>
          </a:xfrm>
          <a:prstGeom prst="ellipse">
            <a:avLst/>
          </a:prstGeom>
          <a:solidFill>
            <a:srgbClr val="F5A9C6">
              <a:alpha val="45000"/>
            </a:srgbClr>
          </a:solidFill>
          <a:ln/>
        </p:spPr>
      </p:sp>
      <p:sp>
        <p:nvSpPr>
          <p:cNvPr id="3" name="Shape 1"/>
          <p:cNvSpPr/>
          <p:nvPr/>
        </p:nvSpPr>
        <p:spPr>
          <a:xfrm>
            <a:off x="-1645920" y="4389120"/>
            <a:ext cx="4114800" cy="4114800"/>
          </a:xfrm>
          <a:prstGeom prst="ellipse">
            <a:avLst/>
          </a:prstGeom>
          <a:solidFill>
            <a:srgbClr val="F5A9C6">
              <a:alpha val="45000"/>
            </a:srgbClr>
          </a:solidFill>
          <a:ln/>
        </p:spPr>
      </p:sp>
      <p:sp>
        <p:nvSpPr>
          <p:cNvPr id="4" name="Shape 2"/>
          <p:cNvSpPr/>
          <p:nvPr/>
        </p:nvSpPr>
        <p:spPr>
          <a:xfrm>
            <a:off x="5367528" y="1234440"/>
            <a:ext cx="1463040" cy="1463040"/>
          </a:xfrm>
          <a:prstGeom prst="ellipse">
            <a:avLst/>
          </a:prstGeom>
          <a:solidFill>
            <a:srgbClr val="FCE3ED"/>
          </a:solidFill>
          <a:ln/>
        </p:spPr>
      </p:sp>
      <p:sp>
        <p:nvSpPr>
          <p:cNvPr id="5" name="Text 3"/>
          <p:cNvSpPr/>
          <p:nvPr/>
        </p:nvSpPr>
        <p:spPr>
          <a:xfrm>
            <a:off x="5367528" y="1234440"/>
            <a:ext cx="1463040" cy="1463040"/>
          </a:xfrm>
          <a:prstGeom prst="rect">
            <a:avLst/>
          </a:prstGeom>
          <a:noFill/>
          <a:ln/>
        </p:spPr>
        <p:txBody>
          <a:bodyPr wrap="square" lIns="0" tIns="0" rIns="0" bIns="0" rtlCol="0" anchor="ctr"/>
          <a:lstStyle/>
          <a:p>
            <a:pPr algn="ctr" indent="0" marL="0">
              <a:buNone/>
            </a:pPr>
            <a:r>
              <a:rPr lang="en-US" sz="4400" b="1" dirty="0">
                <a:solidFill>
                  <a:srgbClr val="8C3F63"/>
                </a:solidFill>
                <a:latin typeface="Calibri" pitchFamily="34" charset="0"/>
                <a:ea typeface="Calibri" pitchFamily="34" charset="-122"/>
                <a:cs typeface="Calibri" pitchFamily="34" charset="-120"/>
              </a:rPr>
              <a:t>♥</a:t>
            </a:r>
            <a:endParaRPr lang="en-US" sz="4400" dirty="0"/>
          </a:p>
        </p:txBody>
      </p:sp>
      <p:sp>
        <p:nvSpPr>
          <p:cNvPr id="6" name="Text 4"/>
          <p:cNvSpPr/>
          <p:nvPr/>
        </p:nvSpPr>
        <p:spPr>
          <a:xfrm>
            <a:off x="1069848" y="3017520"/>
            <a:ext cx="10058400" cy="118872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Em cảm ơn cô đã kiểm tra bài của em</a:t>
            </a:r>
            <a:endParaRPr lang="en-US" sz="3200" dirty="0"/>
          </a:p>
        </p:txBody>
      </p:sp>
      <p:sp>
        <p:nvSpPr>
          <p:cNvPr id="7" name="Text 5"/>
          <p:cNvSpPr/>
          <p:nvPr/>
        </p:nvSpPr>
        <p:spPr>
          <a:xfrm>
            <a:off x="1069848" y="4160520"/>
            <a:ext cx="10058400" cy="457200"/>
          </a:xfrm>
          <a:prstGeom prst="rect">
            <a:avLst/>
          </a:prstGeom>
          <a:noFill/>
          <a:ln/>
        </p:spPr>
        <p:txBody>
          <a:bodyPr wrap="square" lIns="0" tIns="0" rIns="0" bIns="0" rtlCol="0" anchor="ctr"/>
          <a:lstStyle/>
          <a:p>
            <a:pPr algn="ctr" indent="0" marL="0">
              <a:buNone/>
            </a:pPr>
            <a:r>
              <a:rPr lang="en-US" sz="1300" dirty="0">
                <a:solidFill>
                  <a:srgbClr val="FCE3ED"/>
                </a:solidFill>
                <a:latin typeface="Calibri" pitchFamily="34" charset="0"/>
                <a:ea typeface="Calibri" pitchFamily="34" charset="-122"/>
                <a:cs typeface="Calibri" pitchFamily="34" charset="-120"/>
              </a:rPr>
              <a:t>Nguyễn Thị Thục Ngân · Lớp 24CT1 · Công nghệ phần mềm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2026-08-18T08:07:48Z</dcterms:created>
  <dcterms:modified xsi:type="dcterms:W3CDTF">2026-08-18T08:07:48Z</dcterms:modified>
</cp:coreProperties>
</file>